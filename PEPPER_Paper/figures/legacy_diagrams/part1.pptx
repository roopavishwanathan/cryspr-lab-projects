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9" r:id="rId2"/>
    <p:sldId id="270" r:id="rId3"/>
    <p:sldId id="271" r:id="rId4"/>
    <p:sldId id="261" r:id="rId5"/>
    <p:sldId id="2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59"/>
    <p:restoredTop sz="96327"/>
  </p:normalViewPr>
  <p:slideViewPr>
    <p:cSldViewPr snapToGrid="0">
      <p:cViewPr varScale="1">
        <p:scale>
          <a:sx n="155" d="100"/>
          <a:sy n="155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8E3F7-CDA8-1D44-AB74-76F86C70D39E}" type="datetimeFigureOut">
              <a:rPr lang="en-US" smtClean="0"/>
              <a:t>1/18/23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F8767-1B96-D840-AD2E-4DC917EA0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3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C32A4-D8F6-344A-89E0-F738B70FFB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36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C32A4-D8F6-344A-89E0-F738B70FFB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38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C32A4-D8F6-344A-89E0-F738B70FFB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81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FB1B8-90AC-1830-1CE5-8DE5C2060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A352-D9D6-E27C-BB31-81F161BFA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36F2C-A6E0-D934-DC6D-7D6AF94A7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ADD70-730E-3D60-45A0-AC50CBAF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83EBB-F31D-F87C-3058-BDC357BC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AB2A2-6D07-3B16-63B5-84D3900BE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8DF0D-07C6-461F-072D-A222DB695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7D285-D393-0A2E-E5A3-D412BF43A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E3937-1238-417D-E90C-D3E7368D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A1858-D637-BF25-A6FE-CBDBE8D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55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F9705-43E3-12C5-5FE9-BA5F8780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73C3F-CBC2-25EB-97D2-10DB3BF84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ECFEB-EB42-89C9-C44E-C05D26771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407D4-6464-656E-84B2-C5475C3A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9E014-8D64-00E9-95BD-F527D19D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5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FD01-8E52-28FB-B43F-E09560D5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23DF3-6E55-007A-DC0B-FEEDE4D73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B06B0-E846-F357-F2A6-0D41E618C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BC559-D6FE-0F72-1C32-8022FE291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B6938-4819-8374-E801-DF709FF8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7D70A-FACD-B10A-8879-0F139057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8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7872-3A9C-E24D-438B-D8D0DD26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A65B7-864A-5367-D365-BC277421E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61E82-17F3-E971-8353-BCC279ED7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20D52-8453-8850-0CBE-321739636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6B36B-60F9-C9FB-1648-EDDFDF1A3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B53BC2-6896-9C5B-9882-5E0E7C76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C2F43-CF97-B2A2-7DA9-4FE8B855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20D75C-F8C6-9C71-6ECB-7A3890EA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7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BEF33-E294-7206-9FEF-1D0E326C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4C4C9-C03A-9C75-4423-0330F4C9F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5CC22-A0D2-E10A-146E-DD5DF8D2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5D637-902E-E0BB-89A2-F1A3785F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2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F27B7F-026D-4DDD-A204-3470ACED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FEF05-FAA0-30E8-9819-AE4D0118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54889-E085-987E-B85A-C5A10B39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0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33E2-851B-2BF3-0C72-F0204855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C6756-37EB-D98E-CF52-1928F4ABE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AC8DD-3FC3-4A20-D21E-3863C7E1F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0B42E-E07B-6B43-63DE-563519F7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C89C5-B537-4C42-368E-B68D4931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9699F-C60A-18E1-CBD9-9AB7B28B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7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A7B2-27AF-BEA8-1532-F2B24695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C87E9B-CE8D-9830-1B02-FBEFB16A5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116A4-9F16-C044-2881-8FBF6C7F4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11784-7A2A-7558-6141-EC56E912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82226-3014-F662-6498-D9F9BE72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C9E2C-67A5-AE75-D31E-17B1ABB2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5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9B40-8E58-9C3F-B37B-583F545F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52322-2C75-A1B5-AAF9-0DC410219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EB2C4-CF7C-E6FC-26F1-2CE749292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0D2F1-A25B-A195-0838-02885A30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98AF9-EE43-1416-584E-C7C3813B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1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B35DCC-E378-EF5E-D25A-B936516BE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CFE36-3408-3CCA-D7ED-AA49A4508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AE267-F58F-6198-5C4F-990932520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50AA1-5873-0408-BEA7-413B3CFA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79C5C-D9A9-29FE-3778-EAF858CA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9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E389C-AFF9-366A-E8C9-214E8D19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3A57D-8A3B-F068-C4AA-C511D0F60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E604E-A6C0-30ED-A84F-87CC448DDB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5EBAF-386E-4B41-82EC-1A904488E30A}" type="datetimeFigureOut">
              <a:rPr lang="en-US" smtClean="0"/>
              <a:t>1/18/23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91D1A-BFDB-10DF-9BE7-0C69BB71D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5D7A8-8A05-B699-5130-C4788B544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6CA3D-5EB4-3C4B-AC60-4191E82C8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1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676FB7C-4A32-2DA9-A05F-88C5CA845053}"/>
              </a:ext>
            </a:extLst>
          </p:cNvPr>
          <p:cNvGrpSpPr/>
          <p:nvPr/>
        </p:nvGrpSpPr>
        <p:grpSpPr>
          <a:xfrm>
            <a:off x="564292" y="1631093"/>
            <a:ext cx="9765957" cy="3878046"/>
            <a:chOff x="564292" y="1655861"/>
            <a:chExt cx="11074449" cy="385327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A61B76C-8FFC-E309-8466-3B025C487165}"/>
                </a:ext>
              </a:extLst>
            </p:cNvPr>
            <p:cNvGrpSpPr/>
            <p:nvPr/>
          </p:nvGrpSpPr>
          <p:grpSpPr>
            <a:xfrm>
              <a:off x="616514" y="1655861"/>
              <a:ext cx="11022227" cy="3853277"/>
              <a:chOff x="210351" y="624738"/>
              <a:chExt cx="10252883" cy="3382253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17CF350-DD53-E183-F87E-E200AD27DFCC}"/>
                  </a:ext>
                </a:extLst>
              </p:cNvPr>
              <p:cNvSpPr/>
              <p:nvPr/>
            </p:nvSpPr>
            <p:spPr>
              <a:xfrm>
                <a:off x="9053874" y="737111"/>
                <a:ext cx="1409360" cy="3269879"/>
              </a:xfrm>
              <a:prstGeom prst="rect">
                <a:avLst/>
              </a:prstGeom>
              <a:solidFill>
                <a:srgbClr val="70B9BF">
                  <a:alpha val="70000"/>
                </a:srgb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Helvetica" pitchFamily="2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0F1CCAA-3E3B-D9D5-C126-88A6257FCE46}"/>
                  </a:ext>
                </a:extLst>
              </p:cNvPr>
              <p:cNvSpPr/>
              <p:nvPr/>
            </p:nvSpPr>
            <p:spPr>
              <a:xfrm>
                <a:off x="1564638" y="3492644"/>
                <a:ext cx="1804252" cy="307777"/>
              </a:xfrm>
              <a:prstGeom prst="rect">
                <a:avLst/>
              </a:prstGeom>
              <a:solidFill>
                <a:srgbClr val="FCCB8B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latin typeface="Helvetica" pitchFamily="2" charset="0"/>
                  </a:rPr>
                  <a:t>5. Initialize Enclave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5BC40E71-3839-691C-7DB5-DEE466B6F1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19440" y="1583641"/>
                <a:ext cx="7592969" cy="442034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headEnd type="stealth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2270F65E-B281-7284-1581-037BA5D5F8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25068" y="3269701"/>
                <a:ext cx="5849360" cy="179561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headEnd type="stealth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1123ABB8-E63D-C868-B2B4-413C488A2F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02640" y="2345889"/>
                <a:ext cx="7409769" cy="308612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headEnd type="stealth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F743ACA-710C-7157-21EF-8C04B3B19E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32803" y="1633569"/>
                <a:ext cx="5715000" cy="155448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headEnd type="stealth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500AC04-067B-583B-399F-7A29DA493F4A}"/>
                  </a:ext>
                </a:extLst>
              </p:cNvPr>
              <p:cNvSpPr/>
              <p:nvPr/>
            </p:nvSpPr>
            <p:spPr>
              <a:xfrm>
                <a:off x="7377968" y="737113"/>
                <a:ext cx="1409360" cy="3269878"/>
              </a:xfrm>
              <a:prstGeom prst="rect">
                <a:avLst/>
              </a:prstGeom>
              <a:solidFill>
                <a:srgbClr val="70B9BF">
                  <a:alpha val="70000"/>
                </a:srgb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Helvetica" pitchFamily="2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4AC50A-CA2F-C395-77D4-BC258C9396A4}"/>
                  </a:ext>
                </a:extLst>
              </p:cNvPr>
              <p:cNvSpPr txBox="1"/>
              <p:nvPr/>
            </p:nvSpPr>
            <p:spPr>
              <a:xfrm>
                <a:off x="7744394" y="1246662"/>
                <a:ext cx="700833" cy="43088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Helvetica" pitchFamily="2" charset="0"/>
                  </a:rPr>
                  <a:t>SC</a:t>
                </a:r>
                <a:r>
                  <a:rPr lang="en-US" sz="2200" baseline="-25000" dirty="0">
                    <a:latin typeface="Helvetica" pitchFamily="2" charset="0"/>
                  </a:rPr>
                  <a:t>A</a:t>
                </a:r>
                <a:endParaRPr lang="en-US" sz="2200" dirty="0">
                  <a:latin typeface="Helvetica" pitchFamily="2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DCF3E3-F6A4-831F-8342-733DE5F8684F}"/>
                  </a:ext>
                </a:extLst>
              </p:cNvPr>
              <p:cNvSpPr txBox="1"/>
              <p:nvPr/>
            </p:nvSpPr>
            <p:spPr>
              <a:xfrm>
                <a:off x="210351" y="1202156"/>
                <a:ext cx="1307343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US" sz="1600" dirty="0">
                  <a:latin typeface="Helvetica" pitchFamily="2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603A6EC-4E10-D5E4-A6B1-FE5695E3BDE0}"/>
                  </a:ext>
                </a:extLst>
              </p:cNvPr>
              <p:cNvSpPr/>
              <p:nvPr/>
            </p:nvSpPr>
            <p:spPr>
              <a:xfrm>
                <a:off x="1237844" y="1405247"/>
                <a:ext cx="1804251" cy="307777"/>
              </a:xfrm>
              <a:prstGeom prst="rect">
                <a:avLst/>
              </a:prstGeom>
              <a:solidFill>
                <a:srgbClr val="FCCB8B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latin typeface="Helvetica" pitchFamily="2" charset="0"/>
                  </a:rPr>
                  <a:t>1. Implement SC’s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CDD87B6-4292-CAC8-484D-BC3F2B7DF3C5}"/>
                  </a:ext>
                </a:extLst>
              </p:cNvPr>
              <p:cNvSpPr/>
              <p:nvPr/>
            </p:nvSpPr>
            <p:spPr>
              <a:xfrm>
                <a:off x="3447622" y="1573772"/>
                <a:ext cx="1804251" cy="307777"/>
              </a:xfrm>
              <a:prstGeom prst="rect">
                <a:avLst/>
              </a:prstGeom>
              <a:solidFill>
                <a:srgbClr val="FCCB8B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latin typeface="Helvetica" pitchFamily="2" charset="0"/>
                  </a:rPr>
                  <a:t>2. Deploy SC’s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3638A84-8294-CB24-9F3E-8967E8EFE921}"/>
                  </a:ext>
                </a:extLst>
              </p:cNvPr>
              <p:cNvSpPr txBox="1"/>
              <p:nvPr/>
            </p:nvSpPr>
            <p:spPr>
              <a:xfrm>
                <a:off x="9432595" y="1233459"/>
                <a:ext cx="700833" cy="43088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Helvetica" pitchFamily="2" charset="0"/>
                  </a:rPr>
                  <a:t>SC</a:t>
                </a:r>
                <a:r>
                  <a:rPr lang="en-US" sz="2200" baseline="-25000" dirty="0">
                    <a:latin typeface="Helvetica" pitchFamily="2" charset="0"/>
                  </a:rPr>
                  <a:t>B</a:t>
                </a:r>
                <a:endParaRPr lang="en-US" sz="2200" dirty="0">
                  <a:latin typeface="Helvetica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3E381D9-85C8-B58D-A9BA-A4252DF0748F}"/>
                  </a:ext>
                </a:extLst>
              </p:cNvPr>
              <p:cNvSpPr/>
              <p:nvPr/>
            </p:nvSpPr>
            <p:spPr>
              <a:xfrm>
                <a:off x="3633753" y="2271362"/>
                <a:ext cx="1804251" cy="307777"/>
              </a:xfrm>
              <a:prstGeom prst="rect">
                <a:avLst/>
              </a:prstGeom>
              <a:solidFill>
                <a:srgbClr val="FCCB8B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latin typeface="Helvetica" pitchFamily="2" charset="0"/>
                  </a:rPr>
                  <a:t>3. Register Bidder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8F80B5B4-D5FB-AA07-A77D-0486F76F07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99101" y="2986724"/>
                <a:ext cx="5805491" cy="159685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headEnd type="stealth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7893C1E-5883-3FE2-C95B-0ABAB45F0C1F}"/>
                  </a:ext>
                </a:extLst>
              </p:cNvPr>
              <p:cNvSpPr/>
              <p:nvPr/>
            </p:nvSpPr>
            <p:spPr>
              <a:xfrm>
                <a:off x="4151232" y="2881398"/>
                <a:ext cx="2312583" cy="523220"/>
              </a:xfrm>
              <a:prstGeom prst="rect">
                <a:avLst/>
              </a:prstGeom>
              <a:solidFill>
                <a:srgbClr val="FCCB8B"/>
              </a:solidFill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i="1" dirty="0">
                    <a:latin typeface="Helvetica" pitchFamily="2" charset="0"/>
                  </a:rPr>
                  <a:t>4. Get Aggregated</a:t>
                </a:r>
              </a:p>
              <a:p>
                <a:pPr algn="ctr"/>
                <a:r>
                  <a:rPr lang="en-US" sz="1400" i="1" dirty="0">
                    <a:latin typeface="Helvetica" pitchFamily="2" charset="0"/>
                  </a:rPr>
                  <a:t>Nonce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469E295-E68D-AECF-736A-81FEC4A6D54F}"/>
                  </a:ext>
                </a:extLst>
              </p:cNvPr>
              <p:cNvSpPr txBox="1"/>
              <p:nvPr/>
            </p:nvSpPr>
            <p:spPr>
              <a:xfrm>
                <a:off x="8219368" y="624738"/>
                <a:ext cx="1409360" cy="4308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Helvetica" pitchFamily="2" charset="0"/>
                  </a:rPr>
                  <a:t>Ethereum</a:t>
                </a:r>
              </a:p>
            </p:txBody>
          </p:sp>
        </p:grp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DA09C0B-8625-4480-36E0-CB69D1348639}"/>
                </a:ext>
              </a:extLst>
            </p:cNvPr>
            <p:cNvSpPr/>
            <p:nvPr/>
          </p:nvSpPr>
          <p:spPr>
            <a:xfrm>
              <a:off x="605482" y="4218416"/>
              <a:ext cx="1068468" cy="595512"/>
            </a:xfrm>
            <a:prstGeom prst="roundRect">
              <a:avLst/>
            </a:prstGeom>
            <a:solidFill>
              <a:srgbClr val="FE848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 pitchFamily="2" charset="0"/>
                </a:rPr>
                <a:t>Manager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E643E077-BE6B-8ED8-CF54-A8FF63D4CEB5}"/>
                </a:ext>
              </a:extLst>
            </p:cNvPr>
            <p:cNvSpPr/>
            <p:nvPr/>
          </p:nvSpPr>
          <p:spPr>
            <a:xfrm>
              <a:off x="605481" y="3276196"/>
              <a:ext cx="1025275" cy="612608"/>
            </a:xfrm>
            <a:prstGeom prst="roundRect">
              <a:avLst/>
            </a:prstGeom>
            <a:solidFill>
              <a:srgbClr val="FE848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 pitchFamily="2" charset="0"/>
                </a:rPr>
                <a:t>Bidder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618D398-C402-8D7A-F54F-EF46FD575979}"/>
                </a:ext>
              </a:extLst>
            </p:cNvPr>
            <p:cNvSpPr/>
            <p:nvPr/>
          </p:nvSpPr>
          <p:spPr>
            <a:xfrm>
              <a:off x="564292" y="2320983"/>
              <a:ext cx="1066464" cy="706908"/>
            </a:xfrm>
            <a:prstGeom prst="roundRect">
              <a:avLst/>
            </a:prstGeom>
            <a:solidFill>
              <a:srgbClr val="FE848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 pitchFamily="2" charset="0"/>
                </a:rPr>
                <a:t>Service Provider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8588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655BC8-319C-3E85-6A70-C8C1C1AC6BCF}"/>
              </a:ext>
            </a:extLst>
          </p:cNvPr>
          <p:cNvCxnSpPr>
            <a:cxnSpLocks/>
          </p:cNvCxnSpPr>
          <p:nvPr/>
        </p:nvCxnSpPr>
        <p:spPr>
          <a:xfrm flipH="1">
            <a:off x="1869040" y="4542050"/>
            <a:ext cx="5667426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A61B76C-8FFC-E309-8466-3B025C487165}"/>
              </a:ext>
            </a:extLst>
          </p:cNvPr>
          <p:cNvGrpSpPr/>
          <p:nvPr/>
        </p:nvGrpSpPr>
        <p:grpSpPr>
          <a:xfrm>
            <a:off x="728596" y="2717735"/>
            <a:ext cx="8834534" cy="2963700"/>
            <a:chOff x="210351" y="1202156"/>
            <a:chExt cx="9318967" cy="2585262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270F65E-B281-7284-1581-037BA5D5F855}"/>
                </a:ext>
              </a:extLst>
            </p:cNvPr>
            <p:cNvCxnSpPr>
              <a:cxnSpLocks/>
            </p:cNvCxnSpPr>
            <p:nvPr/>
          </p:nvCxnSpPr>
          <p:spPr>
            <a:xfrm>
              <a:off x="1409576" y="3656637"/>
              <a:ext cx="6067524" cy="549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0F1CCAA-3E3B-D9D5-C126-88A6257FCE46}"/>
                </a:ext>
              </a:extLst>
            </p:cNvPr>
            <p:cNvSpPr/>
            <p:nvPr/>
          </p:nvSpPr>
          <p:spPr>
            <a:xfrm>
              <a:off x="1717532" y="3492094"/>
              <a:ext cx="2151061" cy="295324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latin typeface="Helvetica" pitchFamily="2" charset="0"/>
                </a:rPr>
                <a:t>5. Initialize Enclave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BC40E71-3839-691C-7DB5-DEE466B6F1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967" y="1515550"/>
              <a:ext cx="5972430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123ABB8-E63D-C868-B2B4-413C488A2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2601" y="2181924"/>
              <a:ext cx="6030748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CF3E3-F6A4-831F-8342-733DE5F8684F}"/>
                </a:ext>
              </a:extLst>
            </p:cNvPr>
            <p:cNvSpPr txBox="1"/>
            <p:nvPr/>
          </p:nvSpPr>
          <p:spPr>
            <a:xfrm>
              <a:off x="210351" y="1202156"/>
              <a:ext cx="1307343" cy="2819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en-US" sz="1500" dirty="0">
                <a:latin typeface="Helvetica" pitchFamily="2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603A6EC-4E10-D5E4-A6B1-FE5695E3BDE0}"/>
                </a:ext>
              </a:extLst>
            </p:cNvPr>
            <p:cNvSpPr/>
            <p:nvPr/>
          </p:nvSpPr>
          <p:spPr>
            <a:xfrm>
              <a:off x="1924398" y="1382089"/>
              <a:ext cx="3092673" cy="295324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latin typeface="Helvetica" pitchFamily="2" charset="0"/>
                </a:rPr>
                <a:t>1. Implement and Deploy SC’s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3E381D9-85C8-B58D-A9BA-A4252DF0748F}"/>
                </a:ext>
              </a:extLst>
            </p:cNvPr>
            <p:cNvSpPr/>
            <p:nvPr/>
          </p:nvSpPr>
          <p:spPr>
            <a:xfrm>
              <a:off x="3804873" y="2655716"/>
              <a:ext cx="1928165" cy="295324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latin typeface="Helvetica" pitchFamily="2" charset="0"/>
                </a:rPr>
                <a:t>3. Register Bidder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F80B5B4-D5FB-AA07-A77D-0486F76F07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330" y="3327183"/>
              <a:ext cx="6060018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7893C1E-5883-3FE2-C95B-0ABAB45F0C1F}"/>
                </a:ext>
              </a:extLst>
            </p:cNvPr>
            <p:cNvSpPr/>
            <p:nvPr/>
          </p:nvSpPr>
          <p:spPr>
            <a:xfrm>
              <a:off x="4443515" y="3186234"/>
              <a:ext cx="2703220" cy="295324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>
                  <a:latin typeface="Helvetica" pitchFamily="2" charset="0"/>
                </a:rPr>
                <a:t>4. Get Aggregated Nonce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469E295-E68D-AECF-736A-81FEC4A6D54F}"/>
                </a:ext>
              </a:extLst>
            </p:cNvPr>
            <p:cNvSpPr txBox="1"/>
            <p:nvPr/>
          </p:nvSpPr>
          <p:spPr>
            <a:xfrm>
              <a:off x="8035914" y="1250855"/>
              <a:ext cx="1493404" cy="3221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b="1" dirty="0">
                  <a:latin typeface="Helvetica" pitchFamily="2" charset="0"/>
                </a:rPr>
                <a:t>Blockchain</a:t>
              </a:r>
            </a:p>
          </p:txBody>
        </p:sp>
      </p:grp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18D398-C402-8D7A-F54F-EF46FD575979}"/>
              </a:ext>
            </a:extLst>
          </p:cNvPr>
          <p:cNvSpPr/>
          <p:nvPr/>
        </p:nvSpPr>
        <p:spPr>
          <a:xfrm>
            <a:off x="481516" y="2657279"/>
            <a:ext cx="1292526" cy="7717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Helvetica" pitchFamily="2" charset="0"/>
              </a:rPr>
              <a:t>Service Provider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E55A79-2A13-4EE4-473B-342D44E0855B}"/>
              </a:ext>
            </a:extLst>
          </p:cNvPr>
          <p:cNvSpPr/>
          <p:nvPr/>
        </p:nvSpPr>
        <p:spPr>
          <a:xfrm>
            <a:off x="3676820" y="3654972"/>
            <a:ext cx="1827932" cy="338554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Helvetica" pitchFamily="2" charset="0"/>
              </a:rPr>
              <a:t>2. Create Auction</a:t>
            </a:r>
          </a:p>
        </p:txBody>
      </p:sp>
      <p:pic>
        <p:nvPicPr>
          <p:cNvPr id="45" name="Picture 44" descr="Shape&#10;&#10;Description automatically generated with low confidence">
            <a:extLst>
              <a:ext uri="{FF2B5EF4-FFF2-40B4-BE49-F238E27FC236}">
                <a16:creationId xmlns:a16="http://schemas.microsoft.com/office/drawing/2014/main" id="{190DB9C0-CE53-C40C-648F-F05A7875C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990" y="2879317"/>
            <a:ext cx="2751614" cy="2874432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DADD1B0-D915-B20C-2593-99746087B064}"/>
              </a:ext>
            </a:extLst>
          </p:cNvPr>
          <p:cNvSpPr/>
          <p:nvPr/>
        </p:nvSpPr>
        <p:spPr>
          <a:xfrm>
            <a:off x="494326" y="3466671"/>
            <a:ext cx="1251774" cy="7717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50" b="1" dirty="0">
                <a:solidFill>
                  <a:schemeClr val="tx1"/>
                </a:solidFill>
                <a:latin typeface="Helvetica" pitchFamily="2" charset="0"/>
              </a:rPr>
              <a:t>Resource Consumer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039086C-DCCD-E13F-27F6-B2228A302734}"/>
              </a:ext>
            </a:extLst>
          </p:cNvPr>
          <p:cNvSpPr/>
          <p:nvPr/>
        </p:nvSpPr>
        <p:spPr>
          <a:xfrm>
            <a:off x="498651" y="4276063"/>
            <a:ext cx="1247449" cy="7717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Helvetica" pitchFamily="2" charset="0"/>
              </a:rPr>
              <a:t>Bidder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5D6F38C-239B-C973-BBCD-FDE361CD8CA9}"/>
              </a:ext>
            </a:extLst>
          </p:cNvPr>
          <p:cNvSpPr/>
          <p:nvPr/>
        </p:nvSpPr>
        <p:spPr>
          <a:xfrm>
            <a:off x="494326" y="5085455"/>
            <a:ext cx="1247448" cy="7717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Helvetica" pitchFamily="2" charset="0"/>
              </a:rPr>
              <a:t>Manager</a:t>
            </a:r>
          </a:p>
        </p:txBody>
      </p:sp>
    </p:spTree>
    <p:extLst>
      <p:ext uri="{BB962C8B-B14F-4D97-AF65-F5344CB8AC3E}">
        <p14:creationId xmlns:p14="http://schemas.microsoft.com/office/powerpoint/2010/main" val="3765001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655BC8-319C-3E85-6A70-C8C1C1AC6BCF}"/>
              </a:ext>
            </a:extLst>
          </p:cNvPr>
          <p:cNvCxnSpPr>
            <a:cxnSpLocks/>
          </p:cNvCxnSpPr>
          <p:nvPr/>
        </p:nvCxnSpPr>
        <p:spPr>
          <a:xfrm flipH="1" flipV="1">
            <a:off x="1904434" y="4216695"/>
            <a:ext cx="5748696" cy="83191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A61B76C-8FFC-E309-8466-3B025C487165}"/>
              </a:ext>
            </a:extLst>
          </p:cNvPr>
          <p:cNvGrpSpPr/>
          <p:nvPr/>
        </p:nvGrpSpPr>
        <p:grpSpPr>
          <a:xfrm>
            <a:off x="695645" y="2555284"/>
            <a:ext cx="8497488" cy="2890336"/>
            <a:chOff x="210351" y="1202156"/>
            <a:chExt cx="8963439" cy="2521267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0F1CCAA-3E3B-D9D5-C126-88A6257FCE46}"/>
                </a:ext>
              </a:extLst>
            </p:cNvPr>
            <p:cNvSpPr/>
            <p:nvPr/>
          </p:nvSpPr>
          <p:spPr>
            <a:xfrm>
              <a:off x="1412837" y="3454946"/>
              <a:ext cx="1804252" cy="268477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latin typeface="Helvetica" pitchFamily="2" charset="0"/>
                </a:rPr>
                <a:t>6. Initialize Enclave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BC40E71-3839-691C-7DB5-DEE466B6F1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2420" y="1516217"/>
              <a:ext cx="6112161" cy="268014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270F65E-B281-7284-1581-037BA5D5F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7053" y="3202333"/>
              <a:ext cx="6162289" cy="186124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123ABB8-E63D-C868-B2B4-413C488A2F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7053" y="2105301"/>
              <a:ext cx="6162289" cy="205744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CF3E3-F6A4-831F-8342-733DE5F8684F}"/>
                </a:ext>
              </a:extLst>
            </p:cNvPr>
            <p:cNvSpPr txBox="1"/>
            <p:nvPr/>
          </p:nvSpPr>
          <p:spPr>
            <a:xfrm>
              <a:off x="210351" y="1202156"/>
              <a:ext cx="1307343" cy="338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en-US" sz="1600" dirty="0">
                <a:latin typeface="Helvetica" pitchFamily="2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603A6EC-4E10-D5E4-A6B1-FE5695E3BDE0}"/>
                </a:ext>
              </a:extLst>
            </p:cNvPr>
            <p:cNvSpPr/>
            <p:nvPr/>
          </p:nvSpPr>
          <p:spPr>
            <a:xfrm>
              <a:off x="1387053" y="1419808"/>
              <a:ext cx="1804251" cy="456410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latin typeface="Helvetica" pitchFamily="2" charset="0"/>
                </a:rPr>
                <a:t>1. Implement and deploy SC’s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CDD87B6-4292-CAC8-484D-BC3F2B7DF3C5}"/>
                </a:ext>
              </a:extLst>
            </p:cNvPr>
            <p:cNvSpPr/>
            <p:nvPr/>
          </p:nvSpPr>
          <p:spPr>
            <a:xfrm>
              <a:off x="3253087" y="1527124"/>
              <a:ext cx="1570382" cy="268477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latin typeface="Helvetica" pitchFamily="2" charset="0"/>
                </a:rPr>
                <a:t>2. Deploy SC’s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3E381D9-85C8-B58D-A9BA-A4252DF0748F}"/>
                </a:ext>
              </a:extLst>
            </p:cNvPr>
            <p:cNvSpPr/>
            <p:nvPr/>
          </p:nvSpPr>
          <p:spPr>
            <a:xfrm>
              <a:off x="4168047" y="2480759"/>
              <a:ext cx="1804251" cy="268477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latin typeface="Helvetica" pitchFamily="2" charset="0"/>
                </a:rPr>
                <a:t>4. Register Bidder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F80B5B4-D5FB-AA07-A77D-0486F76F07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9101" y="2986724"/>
              <a:ext cx="6050242" cy="160934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7893C1E-5883-3FE2-C95B-0ABAB45F0C1F}"/>
                </a:ext>
              </a:extLst>
            </p:cNvPr>
            <p:cNvSpPr/>
            <p:nvPr/>
          </p:nvSpPr>
          <p:spPr>
            <a:xfrm>
              <a:off x="5333160" y="2914528"/>
              <a:ext cx="1804251" cy="456410"/>
            </a:xfrm>
            <a:prstGeom prst="rect">
              <a:avLst/>
            </a:prstGeom>
            <a:solidFill>
              <a:srgbClr val="FCCB8B"/>
            </a:solidFill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 dirty="0">
                  <a:latin typeface="Helvetica" pitchFamily="2" charset="0"/>
                </a:rPr>
                <a:t>5. Get Aggregated</a:t>
              </a:r>
            </a:p>
            <a:p>
              <a:pPr algn="ctr"/>
              <a:r>
                <a:rPr lang="en-US" sz="1400" i="1" dirty="0">
                  <a:latin typeface="Helvetica" pitchFamily="2" charset="0"/>
                </a:rPr>
                <a:t>Nonce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469E295-E68D-AECF-736A-81FEC4A6D54F}"/>
                </a:ext>
              </a:extLst>
            </p:cNvPr>
            <p:cNvSpPr txBox="1"/>
            <p:nvPr/>
          </p:nvSpPr>
          <p:spPr>
            <a:xfrm>
              <a:off x="7807203" y="1373143"/>
              <a:ext cx="1366587" cy="3489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Helvetica" pitchFamily="2" charset="0"/>
                </a:rPr>
                <a:t>Ethereum</a:t>
              </a:r>
            </a:p>
          </p:txBody>
        </p:sp>
      </p:grp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DA09C0B-8625-4480-36E0-CB69D1348639}"/>
              </a:ext>
            </a:extLst>
          </p:cNvPr>
          <p:cNvSpPr/>
          <p:nvPr/>
        </p:nvSpPr>
        <p:spPr>
          <a:xfrm>
            <a:off x="492763" y="4885031"/>
            <a:ext cx="1169702" cy="599340"/>
          </a:xfrm>
          <a:prstGeom prst="roundRect">
            <a:avLst/>
          </a:prstGeom>
          <a:solidFill>
            <a:srgbClr val="FE848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" pitchFamily="2" charset="0"/>
              </a:rPr>
              <a:t>Manager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43E077-BE6B-8ED8-CF54-A8FF63D4CEB5}"/>
              </a:ext>
            </a:extLst>
          </p:cNvPr>
          <p:cNvSpPr/>
          <p:nvPr/>
        </p:nvSpPr>
        <p:spPr>
          <a:xfrm>
            <a:off x="481515" y="4183466"/>
            <a:ext cx="1169703" cy="616546"/>
          </a:xfrm>
          <a:prstGeom prst="roundRect">
            <a:avLst/>
          </a:prstGeom>
          <a:solidFill>
            <a:srgbClr val="FE848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" pitchFamily="2" charset="0"/>
              </a:rPr>
              <a:t>Bidder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18D398-C402-8D7A-F54F-EF46FD575979}"/>
              </a:ext>
            </a:extLst>
          </p:cNvPr>
          <p:cNvSpPr/>
          <p:nvPr/>
        </p:nvSpPr>
        <p:spPr>
          <a:xfrm>
            <a:off x="481515" y="2591357"/>
            <a:ext cx="1169703" cy="711452"/>
          </a:xfrm>
          <a:prstGeom prst="roundRect">
            <a:avLst/>
          </a:prstGeom>
          <a:solidFill>
            <a:srgbClr val="FE848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Helvetica" pitchFamily="2" charset="0"/>
              </a:rPr>
              <a:t>Manager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358AD4D-547F-1FB4-A656-5781FC5152EC}"/>
              </a:ext>
            </a:extLst>
          </p:cNvPr>
          <p:cNvSpPr/>
          <p:nvPr/>
        </p:nvSpPr>
        <p:spPr>
          <a:xfrm>
            <a:off x="481515" y="3382468"/>
            <a:ext cx="1172835" cy="711452"/>
          </a:xfrm>
          <a:prstGeom prst="roundRect">
            <a:avLst/>
          </a:prstGeom>
          <a:solidFill>
            <a:srgbClr val="FE848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60" dirty="0">
                <a:solidFill>
                  <a:schemeClr val="tx1"/>
                </a:solidFill>
                <a:latin typeface="Helvetica" pitchFamily="2" charset="0"/>
              </a:rPr>
              <a:t>Resource Consumer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E55A79-2A13-4EE4-473B-342D44E0855B}"/>
              </a:ext>
            </a:extLst>
          </p:cNvPr>
          <p:cNvSpPr/>
          <p:nvPr/>
        </p:nvSpPr>
        <p:spPr>
          <a:xfrm>
            <a:off x="3841693" y="3507325"/>
            <a:ext cx="1710460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3. Create Auction</a:t>
            </a:r>
          </a:p>
        </p:txBody>
      </p:sp>
      <p:pic>
        <p:nvPicPr>
          <p:cNvPr id="45" name="Picture 44" descr="Shape&#10;&#10;Description automatically generated with low confidence">
            <a:extLst>
              <a:ext uri="{FF2B5EF4-FFF2-40B4-BE49-F238E27FC236}">
                <a16:creationId xmlns:a16="http://schemas.microsoft.com/office/drawing/2014/main" id="{190DB9C0-CE53-C40C-648F-F05A7875C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710" y="3052402"/>
            <a:ext cx="1937300" cy="19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17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7B1D5A8F-05BF-E5A9-CF7B-F643B4F8B01E}"/>
              </a:ext>
            </a:extLst>
          </p:cNvPr>
          <p:cNvSpPr/>
          <p:nvPr/>
        </p:nvSpPr>
        <p:spPr>
          <a:xfrm>
            <a:off x="1509695" y="852098"/>
            <a:ext cx="4866366" cy="1521999"/>
          </a:xfrm>
          <a:prstGeom prst="rect">
            <a:avLst/>
          </a:prstGeom>
          <a:solidFill>
            <a:srgbClr val="0070C0">
              <a:alpha val="1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E7342A5-D3A4-74E6-76A0-41201FACC7E6}"/>
              </a:ext>
            </a:extLst>
          </p:cNvPr>
          <p:cNvSpPr/>
          <p:nvPr/>
        </p:nvSpPr>
        <p:spPr>
          <a:xfrm>
            <a:off x="178487" y="3448507"/>
            <a:ext cx="4866366" cy="1763813"/>
          </a:xfrm>
          <a:prstGeom prst="rect">
            <a:avLst/>
          </a:prstGeom>
          <a:solidFill>
            <a:srgbClr val="0070C0">
              <a:alpha val="1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7461210-D335-222C-B7A3-3807EE344106}"/>
              </a:ext>
            </a:extLst>
          </p:cNvPr>
          <p:cNvCxnSpPr>
            <a:cxnSpLocks/>
          </p:cNvCxnSpPr>
          <p:nvPr/>
        </p:nvCxnSpPr>
        <p:spPr>
          <a:xfrm>
            <a:off x="3430066" y="668031"/>
            <a:ext cx="0" cy="4936843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A1BF4C8-B721-3BC5-F1E4-77C66C3364B9}"/>
              </a:ext>
            </a:extLst>
          </p:cNvPr>
          <p:cNvCxnSpPr>
            <a:cxnSpLocks/>
          </p:cNvCxnSpPr>
          <p:nvPr/>
        </p:nvCxnSpPr>
        <p:spPr>
          <a:xfrm>
            <a:off x="1022707" y="668031"/>
            <a:ext cx="0" cy="4936843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E18A01B-E048-B060-4D2A-CC710F021C79}"/>
              </a:ext>
            </a:extLst>
          </p:cNvPr>
          <p:cNvCxnSpPr>
            <a:cxnSpLocks/>
          </p:cNvCxnSpPr>
          <p:nvPr/>
        </p:nvCxnSpPr>
        <p:spPr>
          <a:xfrm flipV="1">
            <a:off x="1154538" y="4430244"/>
            <a:ext cx="1419171" cy="41394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1EE2ECF-BBD5-6A6C-D055-B9A867DB7AAD}"/>
              </a:ext>
            </a:extLst>
          </p:cNvPr>
          <p:cNvCxnSpPr>
            <a:cxnSpLocks/>
          </p:cNvCxnSpPr>
          <p:nvPr/>
        </p:nvCxnSpPr>
        <p:spPr>
          <a:xfrm flipH="1" flipV="1">
            <a:off x="1765691" y="3786299"/>
            <a:ext cx="802472" cy="31142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C4EA06-2831-6132-6062-51AE21715DED}"/>
              </a:ext>
            </a:extLst>
          </p:cNvPr>
          <p:cNvCxnSpPr>
            <a:cxnSpLocks/>
          </p:cNvCxnSpPr>
          <p:nvPr/>
        </p:nvCxnSpPr>
        <p:spPr>
          <a:xfrm>
            <a:off x="1908169" y="3105477"/>
            <a:ext cx="5398053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6582CD8-1E8E-DCF7-6B7F-4308A9C01F52}"/>
              </a:ext>
            </a:extLst>
          </p:cNvPr>
          <p:cNvCxnSpPr>
            <a:cxnSpLocks/>
          </p:cNvCxnSpPr>
          <p:nvPr/>
        </p:nvCxnSpPr>
        <p:spPr>
          <a:xfrm flipH="1" flipV="1">
            <a:off x="5456264" y="2519155"/>
            <a:ext cx="1861712" cy="50514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7B0259-5719-F340-AD12-7E9A3B590BB2}"/>
              </a:ext>
            </a:extLst>
          </p:cNvPr>
          <p:cNvCxnSpPr>
            <a:cxnSpLocks/>
          </p:cNvCxnSpPr>
          <p:nvPr/>
        </p:nvCxnSpPr>
        <p:spPr>
          <a:xfrm flipH="1" flipV="1">
            <a:off x="3441897" y="1388452"/>
            <a:ext cx="1861712" cy="50514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7A360C3-81DA-2CD4-EF97-5FE56F6E70B6}"/>
              </a:ext>
            </a:extLst>
          </p:cNvPr>
          <p:cNvSpPr txBox="1"/>
          <p:nvPr/>
        </p:nvSpPr>
        <p:spPr>
          <a:xfrm>
            <a:off x="444131" y="238539"/>
            <a:ext cx="1286902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Manager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D55B2E-60F4-2AE6-CFA0-1A9913708979}"/>
              </a:ext>
            </a:extLst>
          </p:cNvPr>
          <p:cNvSpPr/>
          <p:nvPr/>
        </p:nvSpPr>
        <p:spPr>
          <a:xfrm>
            <a:off x="279942" y="4874865"/>
            <a:ext cx="1707355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7. Submit Tx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E53D97-B2D3-E28D-7F32-F05804D72A79}"/>
              </a:ext>
            </a:extLst>
          </p:cNvPr>
          <p:cNvSpPr/>
          <p:nvPr/>
        </p:nvSpPr>
        <p:spPr>
          <a:xfrm>
            <a:off x="249980" y="2952086"/>
            <a:ext cx="1545456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4. Get Bids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50A4B-6A95-D2A9-F27A-C8A513409AAD}"/>
              </a:ext>
            </a:extLst>
          </p:cNvPr>
          <p:cNvSpPr txBox="1"/>
          <p:nvPr/>
        </p:nvSpPr>
        <p:spPr>
          <a:xfrm>
            <a:off x="2853971" y="238539"/>
            <a:ext cx="1175853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Enclave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303922-AF51-3B5B-BEFD-F92515E91EFB}"/>
              </a:ext>
            </a:extLst>
          </p:cNvPr>
          <p:cNvSpPr/>
          <p:nvPr/>
        </p:nvSpPr>
        <p:spPr>
          <a:xfrm>
            <a:off x="2657337" y="1150542"/>
            <a:ext cx="1545456" cy="521526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1. Generate</a:t>
            </a:r>
          </a:p>
          <a:p>
            <a:pPr algn="ctr"/>
            <a:r>
              <a:rPr lang="en-US" sz="1400" i="1" dirty="0">
                <a:latin typeface="Helvetica" pitchFamily="2" charset="0"/>
              </a:rPr>
              <a:t>Report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EBE3A4-9668-00BF-EFB0-08E4DBAF6127}"/>
              </a:ext>
            </a:extLst>
          </p:cNvPr>
          <p:cNvCxnSpPr>
            <a:cxnSpLocks/>
          </p:cNvCxnSpPr>
          <p:nvPr/>
        </p:nvCxnSpPr>
        <p:spPr>
          <a:xfrm>
            <a:off x="5456264" y="698708"/>
            <a:ext cx="0" cy="4936843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7050DD-A640-043A-A211-640B7A4FE371}"/>
              </a:ext>
            </a:extLst>
          </p:cNvPr>
          <p:cNvSpPr txBox="1"/>
          <p:nvPr/>
        </p:nvSpPr>
        <p:spPr>
          <a:xfrm>
            <a:off x="5041799" y="238539"/>
            <a:ext cx="990242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Bidder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3ABE19-EFEB-7C7F-0D73-91DC5BD6F1A1}"/>
              </a:ext>
            </a:extLst>
          </p:cNvPr>
          <p:cNvSpPr/>
          <p:nvPr/>
        </p:nvSpPr>
        <p:spPr>
          <a:xfrm>
            <a:off x="4800247" y="1916290"/>
            <a:ext cx="1473345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2. Verify Report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ECDC4EF-2F19-00FB-3A50-FD707C3FEEF1}"/>
              </a:ext>
            </a:extLst>
          </p:cNvPr>
          <p:cNvSpPr/>
          <p:nvPr/>
        </p:nvSpPr>
        <p:spPr>
          <a:xfrm>
            <a:off x="256597" y="3516168"/>
            <a:ext cx="1545456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5. Send Bids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4C1D1D7-34B0-4F7A-D0FC-4393595D4C6F}"/>
              </a:ext>
            </a:extLst>
          </p:cNvPr>
          <p:cNvSpPr/>
          <p:nvPr/>
        </p:nvSpPr>
        <p:spPr>
          <a:xfrm>
            <a:off x="2674470" y="4114179"/>
            <a:ext cx="2024303" cy="52322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6. Decrypt and Determine Winner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A94E032-8664-4E16-925D-0820D0B354FB}"/>
              </a:ext>
            </a:extLst>
          </p:cNvPr>
          <p:cNvCxnSpPr>
            <a:cxnSpLocks/>
          </p:cNvCxnSpPr>
          <p:nvPr/>
        </p:nvCxnSpPr>
        <p:spPr>
          <a:xfrm flipH="1">
            <a:off x="2070747" y="5028255"/>
            <a:ext cx="5247230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CBF360E-7F12-B15F-8213-C174A0A07FE0}"/>
              </a:ext>
            </a:extLst>
          </p:cNvPr>
          <p:cNvCxnSpPr>
            <a:cxnSpLocks/>
          </p:cNvCxnSpPr>
          <p:nvPr/>
        </p:nvCxnSpPr>
        <p:spPr>
          <a:xfrm flipH="1">
            <a:off x="7401426" y="698708"/>
            <a:ext cx="21456" cy="4956657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994B7DB-14A3-9823-AAE9-7D0062F49CD4}"/>
              </a:ext>
            </a:extLst>
          </p:cNvPr>
          <p:cNvSpPr txBox="1"/>
          <p:nvPr/>
        </p:nvSpPr>
        <p:spPr>
          <a:xfrm>
            <a:off x="6585152" y="237043"/>
            <a:ext cx="1675459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Helvetica" pitchFamily="2" charset="0"/>
              </a:rPr>
              <a:t>Blockchain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234288-B2AC-46A6-E79C-2F213391C0CB}"/>
              </a:ext>
            </a:extLst>
          </p:cNvPr>
          <p:cNvSpPr/>
          <p:nvPr/>
        </p:nvSpPr>
        <p:spPr>
          <a:xfrm>
            <a:off x="5619621" y="2416134"/>
            <a:ext cx="1592069" cy="52322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3. Encrypt and Submit Bid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F14FE35-59D8-9857-196E-C7F1EDF9C6CE}"/>
              </a:ext>
            </a:extLst>
          </p:cNvPr>
          <p:cNvSpPr txBox="1"/>
          <p:nvPr/>
        </p:nvSpPr>
        <p:spPr>
          <a:xfrm rot="16200000">
            <a:off x="762453" y="1457264"/>
            <a:ext cx="1692212" cy="304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Helvetica" pitchFamily="2" charset="0"/>
              </a:rPr>
              <a:t>Remote Attestation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A2D3E09-7295-B987-17DD-0A3A6BF2E1E3}"/>
              </a:ext>
            </a:extLst>
          </p:cNvPr>
          <p:cNvSpPr txBox="1"/>
          <p:nvPr/>
        </p:nvSpPr>
        <p:spPr>
          <a:xfrm rot="5400000">
            <a:off x="4083962" y="4163828"/>
            <a:ext cx="1534221" cy="304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Helvetica" pitchFamily="2" charset="0"/>
              </a:rPr>
              <a:t>Winner Selection</a:t>
            </a:r>
          </a:p>
        </p:txBody>
      </p:sp>
    </p:spTree>
    <p:extLst>
      <p:ext uri="{BB962C8B-B14F-4D97-AF65-F5344CB8AC3E}">
        <p14:creationId xmlns:p14="http://schemas.microsoft.com/office/powerpoint/2010/main" val="1516365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7B1D5A8F-05BF-E5A9-CF7B-F643B4F8B01E}"/>
              </a:ext>
            </a:extLst>
          </p:cNvPr>
          <p:cNvSpPr/>
          <p:nvPr/>
        </p:nvSpPr>
        <p:spPr>
          <a:xfrm>
            <a:off x="157271" y="2625523"/>
            <a:ext cx="4933975" cy="795938"/>
          </a:xfrm>
          <a:prstGeom prst="rect">
            <a:avLst/>
          </a:prstGeom>
          <a:solidFill>
            <a:srgbClr val="0070C0">
              <a:alpha val="1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E7342A5-D3A4-74E6-76A0-41201FACC7E6}"/>
              </a:ext>
            </a:extLst>
          </p:cNvPr>
          <p:cNvSpPr/>
          <p:nvPr/>
        </p:nvSpPr>
        <p:spPr>
          <a:xfrm>
            <a:off x="157271" y="3809855"/>
            <a:ext cx="5900405" cy="175141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E18A01B-E048-B060-4D2A-CC710F021C79}"/>
              </a:ext>
            </a:extLst>
          </p:cNvPr>
          <p:cNvCxnSpPr>
            <a:cxnSpLocks/>
          </p:cNvCxnSpPr>
          <p:nvPr/>
        </p:nvCxnSpPr>
        <p:spPr>
          <a:xfrm>
            <a:off x="1069218" y="4888933"/>
            <a:ext cx="1476058" cy="9029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1EE2ECF-BBD5-6A6C-D055-B9A867DB7AAD}"/>
              </a:ext>
            </a:extLst>
          </p:cNvPr>
          <p:cNvCxnSpPr>
            <a:cxnSpLocks/>
          </p:cNvCxnSpPr>
          <p:nvPr/>
        </p:nvCxnSpPr>
        <p:spPr>
          <a:xfrm flipH="1">
            <a:off x="1739334" y="4431884"/>
            <a:ext cx="833141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C4EA06-2831-6132-6062-51AE21715DED}"/>
              </a:ext>
            </a:extLst>
          </p:cNvPr>
          <p:cNvCxnSpPr>
            <a:cxnSpLocks/>
          </p:cNvCxnSpPr>
          <p:nvPr/>
        </p:nvCxnSpPr>
        <p:spPr>
          <a:xfrm>
            <a:off x="1837766" y="3933301"/>
            <a:ext cx="3855248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6582CD8-1E8E-DCF7-6B7F-4308A9C01F52}"/>
              </a:ext>
            </a:extLst>
          </p:cNvPr>
          <p:cNvCxnSpPr>
            <a:cxnSpLocks/>
          </p:cNvCxnSpPr>
          <p:nvPr/>
        </p:nvCxnSpPr>
        <p:spPr>
          <a:xfrm flipH="1">
            <a:off x="3804535" y="3608194"/>
            <a:ext cx="1922245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7B0259-5719-F340-AD12-7E9A3B590BB2}"/>
              </a:ext>
            </a:extLst>
          </p:cNvPr>
          <p:cNvCxnSpPr>
            <a:cxnSpLocks/>
          </p:cNvCxnSpPr>
          <p:nvPr/>
        </p:nvCxnSpPr>
        <p:spPr>
          <a:xfrm flipH="1">
            <a:off x="3035707" y="3023492"/>
            <a:ext cx="507154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7A360C3-81DA-2CD4-EF97-5FE56F6E70B6}"/>
              </a:ext>
            </a:extLst>
          </p:cNvPr>
          <p:cNvSpPr txBox="1"/>
          <p:nvPr/>
        </p:nvSpPr>
        <p:spPr>
          <a:xfrm>
            <a:off x="444131" y="238539"/>
            <a:ext cx="1286902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Manager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50A4B-6A95-D2A9-F27A-C8A513409AAD}"/>
              </a:ext>
            </a:extLst>
          </p:cNvPr>
          <p:cNvSpPr txBox="1"/>
          <p:nvPr/>
        </p:nvSpPr>
        <p:spPr>
          <a:xfrm>
            <a:off x="1993914" y="256371"/>
            <a:ext cx="1175853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Enclave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EBE3A4-9668-00BF-EFB0-08E4DBAF6127}"/>
              </a:ext>
            </a:extLst>
          </p:cNvPr>
          <p:cNvCxnSpPr>
            <a:cxnSpLocks/>
          </p:cNvCxnSpPr>
          <p:nvPr/>
        </p:nvCxnSpPr>
        <p:spPr>
          <a:xfrm>
            <a:off x="3869849" y="711585"/>
            <a:ext cx="0" cy="5464771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7050DD-A640-043A-A211-640B7A4FE371}"/>
              </a:ext>
            </a:extLst>
          </p:cNvPr>
          <p:cNvSpPr txBox="1"/>
          <p:nvPr/>
        </p:nvSpPr>
        <p:spPr>
          <a:xfrm>
            <a:off x="3430065" y="256371"/>
            <a:ext cx="990242" cy="4294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Bidder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A94E032-8664-4E16-925D-0820D0B354FB}"/>
              </a:ext>
            </a:extLst>
          </p:cNvPr>
          <p:cNvCxnSpPr>
            <a:cxnSpLocks/>
          </p:cNvCxnSpPr>
          <p:nvPr/>
        </p:nvCxnSpPr>
        <p:spPr>
          <a:xfrm flipH="1">
            <a:off x="1837766" y="5301178"/>
            <a:ext cx="3855248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CBF360E-7F12-B15F-8213-C174A0A07FE0}"/>
              </a:ext>
            </a:extLst>
          </p:cNvPr>
          <p:cNvCxnSpPr>
            <a:cxnSpLocks/>
          </p:cNvCxnSpPr>
          <p:nvPr/>
        </p:nvCxnSpPr>
        <p:spPr>
          <a:xfrm flipH="1">
            <a:off x="5732564" y="711585"/>
            <a:ext cx="9581" cy="5406582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994B7DB-14A3-9823-AAE9-7D0062F49CD4}"/>
              </a:ext>
            </a:extLst>
          </p:cNvPr>
          <p:cNvSpPr txBox="1"/>
          <p:nvPr/>
        </p:nvSpPr>
        <p:spPr>
          <a:xfrm>
            <a:off x="5361338" y="296992"/>
            <a:ext cx="575799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BC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234288-B2AC-46A6-E79C-2F213391C0CB}"/>
              </a:ext>
            </a:extLst>
          </p:cNvPr>
          <p:cNvSpPr/>
          <p:nvPr/>
        </p:nvSpPr>
        <p:spPr>
          <a:xfrm>
            <a:off x="3299451" y="3498081"/>
            <a:ext cx="1996966" cy="276999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i="1" dirty="0">
                <a:latin typeface="Helvetica" pitchFamily="2" charset="0"/>
              </a:rPr>
              <a:t>8. Encrypt and Submit Bid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F14FE35-59D8-9857-196E-C7F1EDF9C6CE}"/>
              </a:ext>
            </a:extLst>
          </p:cNvPr>
          <p:cNvSpPr txBox="1"/>
          <p:nvPr/>
        </p:nvSpPr>
        <p:spPr>
          <a:xfrm rot="16200000">
            <a:off x="-212055" y="2808596"/>
            <a:ext cx="118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Helvetica" pitchFamily="2" charset="0"/>
              </a:rPr>
              <a:t>Remote Attestation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A2D3E09-7295-B987-17DD-0A3A6BF2E1E3}"/>
              </a:ext>
            </a:extLst>
          </p:cNvPr>
          <p:cNvSpPr txBox="1"/>
          <p:nvPr/>
        </p:nvSpPr>
        <p:spPr>
          <a:xfrm rot="5400000">
            <a:off x="5056409" y="4531674"/>
            <a:ext cx="1635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Helvetica" pitchFamily="2" charset="0"/>
              </a:rPr>
              <a:t>Winner Selection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F7AAB77-EC74-0BE0-B7B0-8183C1CCB435}"/>
              </a:ext>
            </a:extLst>
          </p:cNvPr>
          <p:cNvCxnSpPr>
            <a:cxnSpLocks/>
          </p:cNvCxnSpPr>
          <p:nvPr/>
        </p:nvCxnSpPr>
        <p:spPr>
          <a:xfrm flipH="1">
            <a:off x="7282818" y="673829"/>
            <a:ext cx="37242" cy="5444338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4A302F-9F22-1D38-FBBA-38F1B82F1842}"/>
              </a:ext>
            </a:extLst>
          </p:cNvPr>
          <p:cNvSpPr txBox="1"/>
          <p:nvPr/>
        </p:nvSpPr>
        <p:spPr>
          <a:xfrm>
            <a:off x="6130863" y="318635"/>
            <a:ext cx="2255747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Service Provider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D6B55C-1E07-C18C-473D-8074893876A6}"/>
              </a:ext>
            </a:extLst>
          </p:cNvPr>
          <p:cNvCxnSpPr>
            <a:cxnSpLocks/>
          </p:cNvCxnSpPr>
          <p:nvPr/>
        </p:nvCxnSpPr>
        <p:spPr>
          <a:xfrm>
            <a:off x="5742145" y="1077667"/>
            <a:ext cx="1583699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21D17E5-5A19-9603-4E5B-EA423B51EDD3}"/>
              </a:ext>
            </a:extLst>
          </p:cNvPr>
          <p:cNvSpPr/>
          <p:nvPr/>
        </p:nvSpPr>
        <p:spPr>
          <a:xfrm>
            <a:off x="6770873" y="816057"/>
            <a:ext cx="1545456" cy="523220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1. Implement and deploy SC’s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5C53BB-5C03-5DE3-9757-EA0D0B7F1A80}"/>
              </a:ext>
            </a:extLst>
          </p:cNvPr>
          <p:cNvCxnSpPr>
            <a:cxnSpLocks/>
          </p:cNvCxnSpPr>
          <p:nvPr/>
        </p:nvCxnSpPr>
        <p:spPr>
          <a:xfrm flipH="1">
            <a:off x="12167096" y="733169"/>
            <a:ext cx="21456" cy="4956657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685BC8-1F1C-AB0D-5139-99D1A929E9B0}"/>
              </a:ext>
            </a:extLst>
          </p:cNvPr>
          <p:cNvSpPr txBox="1"/>
          <p:nvPr/>
        </p:nvSpPr>
        <p:spPr>
          <a:xfrm>
            <a:off x="8662822" y="267240"/>
            <a:ext cx="2775120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Resource Consumer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0E336D-5076-B7B5-1C39-4275D5DA51CA}"/>
              </a:ext>
            </a:extLst>
          </p:cNvPr>
          <p:cNvCxnSpPr>
            <a:cxnSpLocks/>
          </p:cNvCxnSpPr>
          <p:nvPr/>
        </p:nvCxnSpPr>
        <p:spPr>
          <a:xfrm flipH="1">
            <a:off x="9961295" y="711585"/>
            <a:ext cx="14230" cy="5329769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13ABE19-EFEB-7C7F-0D73-91DC5BD6F1A1}"/>
              </a:ext>
            </a:extLst>
          </p:cNvPr>
          <p:cNvSpPr/>
          <p:nvPr/>
        </p:nvSpPr>
        <p:spPr>
          <a:xfrm>
            <a:off x="3576525" y="2866092"/>
            <a:ext cx="1473345" cy="292388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300" i="1" dirty="0">
                <a:latin typeface="Helvetica" pitchFamily="2" charset="0"/>
              </a:rPr>
              <a:t>7. Verify Report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5CA0CB-E64A-E4F6-42B9-900BF1BA476D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742145" y="1395919"/>
            <a:ext cx="3396667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306C007-3AC1-CE7A-FC9D-BEEBF40DD254}"/>
              </a:ext>
            </a:extLst>
          </p:cNvPr>
          <p:cNvCxnSpPr>
            <a:cxnSpLocks/>
          </p:cNvCxnSpPr>
          <p:nvPr/>
        </p:nvCxnSpPr>
        <p:spPr>
          <a:xfrm flipH="1">
            <a:off x="3900017" y="1655120"/>
            <a:ext cx="1842128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C8600C0-782B-BFAB-FBF0-FD91DBD2BAC4}"/>
              </a:ext>
            </a:extLst>
          </p:cNvPr>
          <p:cNvSpPr/>
          <p:nvPr/>
        </p:nvSpPr>
        <p:spPr>
          <a:xfrm>
            <a:off x="3299451" y="1484537"/>
            <a:ext cx="1140796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3. Register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0196918-A296-30A5-9CD2-E4936B6306D3}"/>
              </a:ext>
            </a:extLst>
          </p:cNvPr>
          <p:cNvCxnSpPr>
            <a:cxnSpLocks/>
          </p:cNvCxnSpPr>
          <p:nvPr/>
        </p:nvCxnSpPr>
        <p:spPr>
          <a:xfrm>
            <a:off x="1980728" y="1929507"/>
            <a:ext cx="3712286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5A2809F-7D21-EEF3-B04C-674440C0E147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1880095" y="2393528"/>
            <a:ext cx="611926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stealth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45A4F6B-9026-FF12-5762-18F00E182927}"/>
              </a:ext>
            </a:extLst>
          </p:cNvPr>
          <p:cNvSpPr/>
          <p:nvPr/>
        </p:nvSpPr>
        <p:spPr>
          <a:xfrm>
            <a:off x="9138812" y="1242030"/>
            <a:ext cx="1545456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i="1" dirty="0">
                <a:latin typeface="Helvetica" pitchFamily="2" charset="0"/>
              </a:rPr>
              <a:t>2. Create Auction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75E62EA-6B95-347B-4770-6369B3FEFFC6}"/>
              </a:ext>
            </a:extLst>
          </p:cNvPr>
          <p:cNvCxnSpPr>
            <a:cxnSpLocks/>
          </p:cNvCxnSpPr>
          <p:nvPr/>
        </p:nvCxnSpPr>
        <p:spPr>
          <a:xfrm>
            <a:off x="2572475" y="711584"/>
            <a:ext cx="0" cy="5464771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D24D12E-6DD3-95D4-0989-815DEEBC681B}"/>
              </a:ext>
            </a:extLst>
          </p:cNvPr>
          <p:cNvCxnSpPr>
            <a:cxnSpLocks/>
          </p:cNvCxnSpPr>
          <p:nvPr/>
        </p:nvCxnSpPr>
        <p:spPr>
          <a:xfrm>
            <a:off x="1078158" y="727879"/>
            <a:ext cx="0" cy="5464771"/>
          </a:xfrm>
          <a:prstGeom prst="straightConnector1">
            <a:avLst/>
          </a:prstGeom>
          <a:ln w="127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964615A0-8218-231E-5A32-9A8BD80A23DE}"/>
              </a:ext>
            </a:extLst>
          </p:cNvPr>
          <p:cNvSpPr/>
          <p:nvPr/>
        </p:nvSpPr>
        <p:spPr>
          <a:xfrm>
            <a:off x="5980952" y="685863"/>
            <a:ext cx="5132890" cy="1044138"/>
          </a:xfrm>
          <a:prstGeom prst="rect">
            <a:avLst/>
          </a:prstGeom>
          <a:solidFill>
            <a:schemeClr val="accent2">
              <a:alpha val="1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70D16B9-C51C-91AF-C624-C3EBAAC64E5F}"/>
              </a:ext>
            </a:extLst>
          </p:cNvPr>
          <p:cNvSpPr txBox="1"/>
          <p:nvPr/>
        </p:nvSpPr>
        <p:spPr>
          <a:xfrm rot="5400000">
            <a:off x="10293736" y="1033090"/>
            <a:ext cx="1184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Helvetica" pitchFamily="2" charset="0"/>
              </a:rPr>
              <a:t>Initialization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303922-AF51-3B5B-BEFD-F92515E91EFB}"/>
              </a:ext>
            </a:extLst>
          </p:cNvPr>
          <p:cNvSpPr/>
          <p:nvPr/>
        </p:nvSpPr>
        <p:spPr>
          <a:xfrm>
            <a:off x="1809323" y="2680709"/>
            <a:ext cx="1226384" cy="492443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300" i="1" dirty="0">
                <a:latin typeface="Helvetica" pitchFamily="2" charset="0"/>
              </a:rPr>
              <a:t>6. Generate</a:t>
            </a:r>
          </a:p>
          <a:p>
            <a:pPr algn="ctr"/>
            <a:r>
              <a:rPr lang="en-US" sz="1300" i="1" dirty="0">
                <a:latin typeface="Helvetica" pitchFamily="2" charset="0"/>
              </a:rPr>
              <a:t>Report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E53D97-B2D3-E28D-7F32-F05804D72A79}"/>
              </a:ext>
            </a:extLst>
          </p:cNvPr>
          <p:cNvSpPr/>
          <p:nvPr/>
        </p:nvSpPr>
        <p:spPr>
          <a:xfrm>
            <a:off x="193878" y="3879242"/>
            <a:ext cx="1545456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9. Get Bids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ECDC4EF-2F19-00FB-3A50-FD707C3FEEF1}"/>
              </a:ext>
            </a:extLst>
          </p:cNvPr>
          <p:cNvSpPr/>
          <p:nvPr/>
        </p:nvSpPr>
        <p:spPr>
          <a:xfrm>
            <a:off x="231048" y="4278494"/>
            <a:ext cx="1545456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10. Send Bids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D55B2E-60F4-2AE6-CFA0-1A9913708979}"/>
              </a:ext>
            </a:extLst>
          </p:cNvPr>
          <p:cNvSpPr/>
          <p:nvPr/>
        </p:nvSpPr>
        <p:spPr>
          <a:xfrm>
            <a:off x="273373" y="5147788"/>
            <a:ext cx="1707355" cy="306781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12. Submit Tx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DD21FF-CDDB-A947-6541-A5B2DFF2C7CE}"/>
              </a:ext>
            </a:extLst>
          </p:cNvPr>
          <p:cNvSpPr/>
          <p:nvPr/>
        </p:nvSpPr>
        <p:spPr>
          <a:xfrm>
            <a:off x="163403" y="1655119"/>
            <a:ext cx="1802241" cy="461665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latin typeface="Helvetica" pitchFamily="2" charset="0"/>
              </a:rPr>
              <a:t>4. Get Aggregated Nonce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4C1D1D7-34B0-4F7A-D0FC-4393595D4C6F}"/>
              </a:ext>
            </a:extLst>
          </p:cNvPr>
          <p:cNvSpPr/>
          <p:nvPr/>
        </p:nvSpPr>
        <p:spPr>
          <a:xfrm>
            <a:off x="1791147" y="4656786"/>
            <a:ext cx="2024303" cy="461665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latin typeface="Helvetica" pitchFamily="2" charset="0"/>
              </a:rPr>
              <a:t>11. Decrypt and Determine Winner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28A738-F3AF-32A5-EE41-2E019C698403}"/>
              </a:ext>
            </a:extLst>
          </p:cNvPr>
          <p:cNvSpPr/>
          <p:nvPr/>
        </p:nvSpPr>
        <p:spPr>
          <a:xfrm>
            <a:off x="172531" y="2239639"/>
            <a:ext cx="1707564" cy="307777"/>
          </a:xfrm>
          <a:prstGeom prst="rect">
            <a:avLst/>
          </a:prstGeom>
          <a:solidFill>
            <a:srgbClr val="FCCB8B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Helvetica" pitchFamily="2" charset="0"/>
              </a:rPr>
              <a:t>5. Initialize Enclave</a:t>
            </a:r>
          </a:p>
        </p:txBody>
      </p:sp>
    </p:spTree>
    <p:extLst>
      <p:ext uri="{BB962C8B-B14F-4D97-AF65-F5344CB8AC3E}">
        <p14:creationId xmlns:p14="http://schemas.microsoft.com/office/powerpoint/2010/main" val="3566172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6573</TotalTime>
  <Words>201</Words>
  <Application>Microsoft Macintosh PowerPoint</Application>
  <PresentationFormat>Widescreen</PresentationFormat>
  <Paragraphs>73</Paragraphs>
  <Slides>5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Emrah Sariboz</dc:creator>
  <cp:lastModifiedBy>Emrah Sariboz</cp:lastModifiedBy>
  <cp:revision>68</cp:revision>
  <dcterms:created xsi:type="dcterms:W3CDTF">2022-10-19T03:22:34Z</dcterms:created>
  <dcterms:modified xsi:type="dcterms:W3CDTF">2023-01-21T15:59:28Z</dcterms:modified>
</cp:coreProperties>
</file>