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13_A84AF5E4.xml" ContentType="application/vnd.ms-powerpoint.comments+xml"/>
  <Override PartName="/ppt/comments/modernComment_114_3920E490.xml" ContentType="application/vnd.ms-powerpoint.comments+xml"/>
  <Override PartName="/ppt/comments/modernComment_115_D0C2FC5C.xml" ContentType="application/vnd.ms-powerpoint.comments+xml"/>
  <Override PartName="/ppt/comments/modernComment_116_E23933F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70" r:id="rId3"/>
    <p:sldId id="271" r:id="rId4"/>
    <p:sldId id="261" r:id="rId5"/>
    <p:sldId id="272" r:id="rId6"/>
    <p:sldId id="273" r:id="rId7"/>
    <p:sldId id="274" r:id="rId8"/>
    <p:sldId id="275" r:id="rId9"/>
    <p:sldId id="276" r:id="rId10"/>
    <p:sldId id="277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102240-F138-03F4-0174-F4D03336D583}" name="Emrah Sariboz" initials="ES" userId="S::emrah@nmsu.edu::33a716ff-7b37-45c6-b4c2-cd86d3bbae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99"/>
    <p:restoredTop sz="96327"/>
  </p:normalViewPr>
  <p:slideViewPr>
    <p:cSldViewPr snapToGrid="0">
      <p:cViewPr>
        <p:scale>
          <a:sx n="232" d="100"/>
          <a:sy n="232" d="100"/>
        </p:scale>
        <p:origin x="32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modernComment_113_A84AF5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84B33C-165A-4846-9A23-FD97A741FDFA}" authorId="{AA102240-F138-03F4-0174-F4D03336D583}" created="2025-04-22T20:52:54.672">
    <pc:sldMkLst xmlns:pc="http://schemas.microsoft.com/office/powerpoint/2013/main/command">
      <pc:docMk/>
      <pc:sldMk cId="2823484900" sldId="275"/>
    </pc:sldMkLst>
    <p188:txBody>
      <a:bodyPr/>
      <a:lstStyle/>
      <a:p>
        <a:r>
          <a:rPr lang="en-US"/>
          <a:t>On the side, add a note saying bootstrap. 
dAC to dapp character
Add pictures to make it pretty
</a:t>
        </a:r>
      </a:p>
    </p188:txBody>
  </p188:cm>
</p188:cmLst>
</file>

<file path=ppt/comments/modernComment_114_3920E4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07C8A9E-066C-D441-B3FD-EC7F12287D30}" authorId="{AA102240-F138-03F4-0174-F4D03336D583}" created="2025-04-22T20:52:54.672">
    <pc:sldMkLst xmlns:pc="http://schemas.microsoft.com/office/powerpoint/2013/main/command">
      <pc:docMk/>
      <pc:sldMk cId="2823484900" sldId="275"/>
    </pc:sldMkLst>
    <p188:txBody>
      <a:bodyPr/>
      <a:lstStyle/>
      <a:p>
        <a:r>
          <a:rPr lang="en-US"/>
          <a:t>On the side, add a note saying bootstrap. 
dAC to dapp character
Add pictures to make it pretty
</a:t>
        </a:r>
      </a:p>
    </p188:txBody>
  </p188:cm>
</p188:cmLst>
</file>

<file path=ppt/comments/modernComment_115_D0C2FC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15A8684-5A50-6D48-81E3-2F7AF607A31D}" authorId="{AA102240-F138-03F4-0174-F4D03336D583}" created="2025-04-22T20:52:54.672">
    <pc:sldMkLst xmlns:pc="http://schemas.microsoft.com/office/powerpoint/2013/main/command">
      <pc:docMk/>
      <pc:sldMk cId="2823484900" sldId="275"/>
    </pc:sldMkLst>
    <p188:txBody>
      <a:bodyPr/>
      <a:lstStyle/>
      <a:p>
        <a:r>
          <a:rPr lang="en-US"/>
          <a:t>On the side, add a note saying bootstrap. 
dAC to dapp character
Add pictures to make it pretty
</a:t>
        </a:r>
      </a:p>
    </p188:txBody>
  </p188:cm>
</p188:cmLst>
</file>

<file path=ppt/comments/modernComment_116_E23933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C9D407-F319-4546-B8F8-2EA184B03322}" authorId="{AA102240-F138-03F4-0174-F4D03336D583}" created="2025-04-22T20:52:54.672">
    <pc:sldMkLst xmlns:pc="http://schemas.microsoft.com/office/powerpoint/2013/main/command">
      <pc:docMk/>
      <pc:sldMk cId="2823484900" sldId="275"/>
    </pc:sldMkLst>
    <p188:txBody>
      <a:bodyPr/>
      <a:lstStyle/>
      <a:p>
        <a:r>
          <a:rPr lang="en-US"/>
          <a:t>On the side, add a note saying bootstrap. 
dAC to dapp character
Add pictures to make it pretty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8E3F7-CDA8-1D44-AB74-76F86C70D39E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F8767-1B96-D840-AD2E-4DC917EA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3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C32A4-D8F6-344A-89E0-F738B70FFB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36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C32A4-D8F6-344A-89E0-F738B70FFB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38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C32A4-D8F6-344A-89E0-F738B70FFB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81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FB1B8-90AC-1830-1CE5-8DE5C2060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A352-D9D6-E27C-BB31-81F161BFA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36F2C-A6E0-D934-DC6D-7D6AF94A7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ADD70-730E-3D60-45A0-AC50CBAF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83EBB-F31D-F87C-3058-BDC357BC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AB2A2-6D07-3B16-63B5-84D3900BE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8DF0D-07C6-461F-072D-A222DB695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7D285-D393-0A2E-E5A3-D412BF43A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E3937-1238-417D-E90C-D3E7368D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A1858-D637-BF25-A6FE-CBDBE8D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55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F9705-43E3-12C5-5FE9-BA5F8780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73C3F-CBC2-25EB-97D2-10DB3BF84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ECFEB-EB42-89C9-C44E-C05D26771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407D4-6464-656E-84B2-C5475C3A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9E014-8D64-00E9-95BD-F527D19D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5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FD01-8E52-28FB-B43F-E09560D5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23DF3-6E55-007A-DC0B-FEEDE4D73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B06B0-E846-F357-F2A6-0D41E618C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BC559-D6FE-0F72-1C32-8022FE291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B6938-4819-8374-E801-DF709FF8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7D70A-FACD-B10A-8879-0F139057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8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7872-3A9C-E24D-438B-D8D0DD26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A65B7-864A-5367-D365-BC277421E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61E82-17F3-E971-8353-BCC279ED7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20D52-8453-8850-0CBE-321739636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46B36B-60F9-C9FB-1648-EDDFDF1A3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B53BC2-6896-9C5B-9882-5E0E7C76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C2F43-CF97-B2A2-7DA9-4FE8B855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20D75C-F8C6-9C71-6ECB-7A3890EA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78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BEF33-E294-7206-9FEF-1D0E326C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4C4C9-C03A-9C75-4423-0330F4C9F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5CC22-A0D2-E10A-146E-DD5DF8D2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5D637-902E-E0BB-89A2-F1A3785F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2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F27B7F-026D-4DDD-A204-3470ACED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FEF05-FAA0-30E8-9819-AE4D0118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54889-E085-987E-B85A-C5A10B396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0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33E2-851B-2BF3-0C72-F0204855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C6756-37EB-D98E-CF52-1928F4ABE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AC8DD-3FC3-4A20-D21E-3863C7E1F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0B42E-E07B-6B43-63DE-563519F73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C89C5-B537-4C42-368E-B68D4931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9699F-C60A-18E1-CBD9-9AB7B28B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7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A7B2-27AF-BEA8-1532-F2B24695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C87E9B-CE8D-9830-1B02-FBEFB16A5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116A4-9F16-C044-2881-8FBF6C7F4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11784-7A2A-7558-6141-EC56E912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82226-3014-F662-6498-D9F9BE72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C9E2C-67A5-AE75-D31E-17B1ABB2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53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9B40-8E58-9C3F-B37B-583F545F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52322-2C75-A1B5-AAF9-0DC410219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EB2C4-CF7C-E6FC-26F1-2CE749292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0D2F1-A25B-A195-0838-02885A30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98AF9-EE43-1416-584E-C7C3813B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1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B35DCC-E378-EF5E-D25A-B936516BE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CFE36-3408-3CCA-D7ED-AA49A4508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AE267-F58F-6198-5C4F-990932520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50AA1-5873-0408-BEA7-413B3CFA8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79C5C-D9A9-29FE-3778-EAF858CA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9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E389C-AFF9-366A-E8C9-214E8D196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3A57D-8A3B-F068-C4AA-C511D0F60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E604E-A6C0-30ED-A84F-87CC448DDB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5EBAF-386E-4B41-82EC-1A904488E30A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91D1A-BFDB-10DF-9BE7-0C69BB71D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5D7A8-8A05-B699-5130-C4788B544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1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sv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microsoft.com/office/2018/10/relationships/comments" Target="../comments/modernComment_113_A84AF5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microsoft.com/office/2018/10/relationships/comments" Target="../comments/modernComment_114_3920E49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15_D0C2FC5C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microsoft.com/office/2018/10/relationships/comments" Target="../comments/modernComment_116_E23933F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676FB7C-4A32-2DA9-A05F-88C5CA845053}"/>
              </a:ext>
            </a:extLst>
          </p:cNvPr>
          <p:cNvGrpSpPr/>
          <p:nvPr/>
        </p:nvGrpSpPr>
        <p:grpSpPr>
          <a:xfrm>
            <a:off x="564292" y="1631093"/>
            <a:ext cx="9765957" cy="3878046"/>
            <a:chOff x="564292" y="1655861"/>
            <a:chExt cx="11074449" cy="385327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A61B76C-8FFC-E309-8466-3B025C487165}"/>
                </a:ext>
              </a:extLst>
            </p:cNvPr>
            <p:cNvGrpSpPr/>
            <p:nvPr/>
          </p:nvGrpSpPr>
          <p:grpSpPr>
            <a:xfrm>
              <a:off x="616514" y="1655861"/>
              <a:ext cx="11022227" cy="3853277"/>
              <a:chOff x="210351" y="624738"/>
              <a:chExt cx="10252883" cy="3382253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17CF350-DD53-E183-F87E-E200AD27DFCC}"/>
                  </a:ext>
                </a:extLst>
              </p:cNvPr>
              <p:cNvSpPr/>
              <p:nvPr/>
            </p:nvSpPr>
            <p:spPr>
              <a:xfrm>
                <a:off x="9053874" y="737111"/>
                <a:ext cx="1409360" cy="3269879"/>
              </a:xfrm>
              <a:prstGeom prst="rect">
                <a:avLst/>
              </a:prstGeom>
              <a:solidFill>
                <a:srgbClr val="70B9BF">
                  <a:alpha val="70000"/>
                </a:srgb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Helvetica" pitchFamily="2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0F1CCAA-3E3B-D9D5-C126-88A6257FCE46}"/>
                  </a:ext>
                </a:extLst>
              </p:cNvPr>
              <p:cNvSpPr/>
              <p:nvPr/>
            </p:nvSpPr>
            <p:spPr>
              <a:xfrm>
                <a:off x="1564638" y="3492644"/>
                <a:ext cx="1804252" cy="307777"/>
              </a:xfrm>
              <a:prstGeom prst="rect">
                <a:avLst/>
              </a:prstGeom>
              <a:solidFill>
                <a:srgbClr val="FCCB8B"/>
              </a:solidFill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i="1" dirty="0">
                    <a:latin typeface="Helvetica" pitchFamily="2" charset="0"/>
                  </a:rPr>
                  <a:t>5. Initialize Enclave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5BC40E71-3839-691C-7DB5-DEE466B6F1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19440" y="1583641"/>
                <a:ext cx="7592969" cy="442034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headEnd type="stealth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2270F65E-B281-7284-1581-037BA5D5F8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25068" y="3269701"/>
                <a:ext cx="5849360" cy="179561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headEnd type="stealth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1123ABB8-E63D-C868-B2B4-413C488A2F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02640" y="2345889"/>
                <a:ext cx="7409769" cy="308612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headEnd type="stealth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6F743ACA-710C-7157-21EF-8C04B3B19E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32803" y="1633569"/>
                <a:ext cx="5715000" cy="155448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headEnd type="stealth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500AC04-067B-583B-399F-7A29DA493F4A}"/>
                  </a:ext>
                </a:extLst>
              </p:cNvPr>
              <p:cNvSpPr/>
              <p:nvPr/>
            </p:nvSpPr>
            <p:spPr>
              <a:xfrm>
                <a:off x="7377968" y="737113"/>
                <a:ext cx="1409360" cy="3269878"/>
              </a:xfrm>
              <a:prstGeom prst="rect">
                <a:avLst/>
              </a:prstGeom>
              <a:solidFill>
                <a:srgbClr val="70B9BF">
                  <a:alpha val="70000"/>
                </a:srgb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Helvetica" pitchFamily="2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4AC50A-CA2F-C395-77D4-BC258C9396A4}"/>
                  </a:ext>
                </a:extLst>
              </p:cNvPr>
              <p:cNvSpPr txBox="1"/>
              <p:nvPr/>
            </p:nvSpPr>
            <p:spPr>
              <a:xfrm>
                <a:off x="7744394" y="1246662"/>
                <a:ext cx="700833" cy="43088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Helvetica" pitchFamily="2" charset="0"/>
                  </a:rPr>
                  <a:t>SC</a:t>
                </a:r>
                <a:r>
                  <a:rPr lang="en-US" sz="2200" baseline="-25000" dirty="0">
                    <a:latin typeface="Helvetica" pitchFamily="2" charset="0"/>
                  </a:rPr>
                  <a:t>A</a:t>
                </a:r>
                <a:endParaRPr lang="en-US" sz="2200" dirty="0">
                  <a:latin typeface="Helvetica" pitchFamily="2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DCF3E3-F6A4-831F-8342-733DE5F8684F}"/>
                  </a:ext>
                </a:extLst>
              </p:cNvPr>
              <p:cNvSpPr txBox="1"/>
              <p:nvPr/>
            </p:nvSpPr>
            <p:spPr>
              <a:xfrm>
                <a:off x="210351" y="1202156"/>
                <a:ext cx="1307343" cy="338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US" sz="1600" dirty="0">
                  <a:latin typeface="Helvetica" pitchFamily="2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603A6EC-4E10-D5E4-A6B1-FE5695E3BDE0}"/>
                  </a:ext>
                </a:extLst>
              </p:cNvPr>
              <p:cNvSpPr/>
              <p:nvPr/>
            </p:nvSpPr>
            <p:spPr>
              <a:xfrm>
                <a:off x="1237844" y="1405247"/>
                <a:ext cx="1804251" cy="307777"/>
              </a:xfrm>
              <a:prstGeom prst="rect">
                <a:avLst/>
              </a:prstGeom>
              <a:solidFill>
                <a:srgbClr val="FCCB8B"/>
              </a:solidFill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i="1" dirty="0">
                    <a:latin typeface="Helvetica" pitchFamily="2" charset="0"/>
                  </a:rPr>
                  <a:t>1. Implement SC’s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CDD87B6-4292-CAC8-484D-BC3F2B7DF3C5}"/>
                  </a:ext>
                </a:extLst>
              </p:cNvPr>
              <p:cNvSpPr/>
              <p:nvPr/>
            </p:nvSpPr>
            <p:spPr>
              <a:xfrm>
                <a:off x="3447622" y="1573772"/>
                <a:ext cx="1804251" cy="307777"/>
              </a:xfrm>
              <a:prstGeom prst="rect">
                <a:avLst/>
              </a:prstGeom>
              <a:solidFill>
                <a:srgbClr val="FCCB8B"/>
              </a:solidFill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i="1" dirty="0">
                    <a:latin typeface="Helvetica" pitchFamily="2" charset="0"/>
                  </a:rPr>
                  <a:t>2. Deploy SC’s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3638A84-8294-CB24-9F3E-8967E8EFE921}"/>
                  </a:ext>
                </a:extLst>
              </p:cNvPr>
              <p:cNvSpPr txBox="1"/>
              <p:nvPr/>
            </p:nvSpPr>
            <p:spPr>
              <a:xfrm>
                <a:off x="9432595" y="1233459"/>
                <a:ext cx="700833" cy="43088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Helvetica" pitchFamily="2" charset="0"/>
                  </a:rPr>
                  <a:t>SC</a:t>
                </a:r>
                <a:r>
                  <a:rPr lang="en-US" sz="2200" baseline="-25000" dirty="0">
                    <a:latin typeface="Helvetica" pitchFamily="2" charset="0"/>
                  </a:rPr>
                  <a:t>B</a:t>
                </a:r>
                <a:endParaRPr lang="en-US" sz="2200" dirty="0">
                  <a:latin typeface="Helvetica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3E381D9-85C8-B58D-A9BA-A4252DF0748F}"/>
                  </a:ext>
                </a:extLst>
              </p:cNvPr>
              <p:cNvSpPr/>
              <p:nvPr/>
            </p:nvSpPr>
            <p:spPr>
              <a:xfrm>
                <a:off x="3633753" y="2271362"/>
                <a:ext cx="1804251" cy="307777"/>
              </a:xfrm>
              <a:prstGeom prst="rect">
                <a:avLst/>
              </a:prstGeom>
              <a:solidFill>
                <a:srgbClr val="FCCB8B"/>
              </a:solidFill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i="1" dirty="0">
                    <a:latin typeface="Helvetica" pitchFamily="2" charset="0"/>
                  </a:rPr>
                  <a:t>3. Register Bidder</a:t>
                </a: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8F80B5B4-D5FB-AA07-A77D-0486F76F07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99101" y="2986724"/>
                <a:ext cx="5805491" cy="159685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headEnd type="stealth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893C1E-5883-3FE2-C95B-0ABAB45F0C1F}"/>
                  </a:ext>
                </a:extLst>
              </p:cNvPr>
              <p:cNvSpPr/>
              <p:nvPr/>
            </p:nvSpPr>
            <p:spPr>
              <a:xfrm>
                <a:off x="4151232" y="2881398"/>
                <a:ext cx="2312583" cy="523220"/>
              </a:xfrm>
              <a:prstGeom prst="rect">
                <a:avLst/>
              </a:prstGeom>
              <a:solidFill>
                <a:srgbClr val="FCCB8B"/>
              </a:solidFill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i="1" dirty="0">
                    <a:latin typeface="Helvetica" pitchFamily="2" charset="0"/>
                  </a:rPr>
                  <a:t>4. Get Aggregated</a:t>
                </a:r>
              </a:p>
              <a:p>
                <a:pPr algn="ctr"/>
                <a:r>
                  <a:rPr lang="en-US" sz="1400" i="1" dirty="0">
                    <a:latin typeface="Helvetica" pitchFamily="2" charset="0"/>
                  </a:rPr>
                  <a:t>Nonce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469E295-E68D-AECF-736A-81FEC4A6D54F}"/>
                  </a:ext>
                </a:extLst>
              </p:cNvPr>
              <p:cNvSpPr txBox="1"/>
              <p:nvPr/>
            </p:nvSpPr>
            <p:spPr>
              <a:xfrm>
                <a:off x="8219368" y="624738"/>
                <a:ext cx="1409360" cy="43088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Helvetica" pitchFamily="2" charset="0"/>
                  </a:rPr>
                  <a:t>Ethereum</a:t>
                </a:r>
              </a:p>
            </p:txBody>
          </p:sp>
        </p:grp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DA09C0B-8625-4480-36E0-CB69D1348639}"/>
                </a:ext>
              </a:extLst>
            </p:cNvPr>
            <p:cNvSpPr/>
            <p:nvPr/>
          </p:nvSpPr>
          <p:spPr>
            <a:xfrm>
              <a:off x="605482" y="4218416"/>
              <a:ext cx="1068468" cy="595512"/>
            </a:xfrm>
            <a:prstGeom prst="roundRect">
              <a:avLst/>
            </a:prstGeom>
            <a:solidFill>
              <a:srgbClr val="FE848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 pitchFamily="2" charset="0"/>
                </a:rPr>
                <a:t>Manager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E643E077-BE6B-8ED8-CF54-A8FF63D4CEB5}"/>
                </a:ext>
              </a:extLst>
            </p:cNvPr>
            <p:cNvSpPr/>
            <p:nvPr/>
          </p:nvSpPr>
          <p:spPr>
            <a:xfrm>
              <a:off x="605481" y="3276196"/>
              <a:ext cx="1025275" cy="612608"/>
            </a:xfrm>
            <a:prstGeom prst="roundRect">
              <a:avLst/>
            </a:prstGeom>
            <a:solidFill>
              <a:srgbClr val="FE848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 pitchFamily="2" charset="0"/>
                </a:rPr>
                <a:t>Bidder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618D398-C402-8D7A-F54F-EF46FD575979}"/>
                </a:ext>
              </a:extLst>
            </p:cNvPr>
            <p:cNvSpPr/>
            <p:nvPr/>
          </p:nvSpPr>
          <p:spPr>
            <a:xfrm>
              <a:off x="564292" y="2320983"/>
              <a:ext cx="1066464" cy="706908"/>
            </a:xfrm>
            <a:prstGeom prst="roundRect">
              <a:avLst/>
            </a:prstGeom>
            <a:solidFill>
              <a:srgbClr val="FE848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 pitchFamily="2" charset="0"/>
                </a:rPr>
                <a:t>Service Provider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8588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655BC8-319C-3E85-6A70-C8C1C1AC6BCF}"/>
              </a:ext>
            </a:extLst>
          </p:cNvPr>
          <p:cNvCxnSpPr>
            <a:cxnSpLocks/>
          </p:cNvCxnSpPr>
          <p:nvPr/>
        </p:nvCxnSpPr>
        <p:spPr>
          <a:xfrm flipH="1">
            <a:off x="1869040" y="4542050"/>
            <a:ext cx="5667426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A61B76C-8FFC-E309-8466-3B025C487165}"/>
              </a:ext>
            </a:extLst>
          </p:cNvPr>
          <p:cNvGrpSpPr/>
          <p:nvPr/>
        </p:nvGrpSpPr>
        <p:grpSpPr>
          <a:xfrm>
            <a:off x="728596" y="2717735"/>
            <a:ext cx="8834534" cy="2963700"/>
            <a:chOff x="210351" y="1202156"/>
            <a:chExt cx="9318967" cy="2585262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270F65E-B281-7284-1581-037BA5D5F855}"/>
                </a:ext>
              </a:extLst>
            </p:cNvPr>
            <p:cNvCxnSpPr>
              <a:cxnSpLocks/>
            </p:cNvCxnSpPr>
            <p:nvPr/>
          </p:nvCxnSpPr>
          <p:spPr>
            <a:xfrm>
              <a:off x="1409576" y="3656637"/>
              <a:ext cx="6067524" cy="549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0F1CCAA-3E3B-D9D5-C126-88A6257FCE46}"/>
                </a:ext>
              </a:extLst>
            </p:cNvPr>
            <p:cNvSpPr/>
            <p:nvPr/>
          </p:nvSpPr>
          <p:spPr>
            <a:xfrm>
              <a:off x="1717532" y="3492094"/>
              <a:ext cx="2151061" cy="295324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latin typeface="Helvetica" pitchFamily="2" charset="0"/>
                </a:rPr>
                <a:t>5. Initialize Enclave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BC40E71-3839-691C-7DB5-DEE466B6F1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967" y="1515550"/>
              <a:ext cx="5972430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123ABB8-E63D-C868-B2B4-413C488A2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2601" y="2181924"/>
              <a:ext cx="6030748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CF3E3-F6A4-831F-8342-733DE5F8684F}"/>
                </a:ext>
              </a:extLst>
            </p:cNvPr>
            <p:cNvSpPr txBox="1"/>
            <p:nvPr/>
          </p:nvSpPr>
          <p:spPr>
            <a:xfrm>
              <a:off x="210351" y="1202156"/>
              <a:ext cx="1307343" cy="2819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en-US" sz="1500" dirty="0">
                <a:latin typeface="Helvetica" pitchFamily="2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603A6EC-4E10-D5E4-A6B1-FE5695E3BDE0}"/>
                </a:ext>
              </a:extLst>
            </p:cNvPr>
            <p:cNvSpPr/>
            <p:nvPr/>
          </p:nvSpPr>
          <p:spPr>
            <a:xfrm>
              <a:off x="1924398" y="1382089"/>
              <a:ext cx="3092673" cy="295324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latin typeface="Helvetica" pitchFamily="2" charset="0"/>
                </a:rPr>
                <a:t>1. Implement and Deploy SC’s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3E381D9-85C8-B58D-A9BA-A4252DF0748F}"/>
                </a:ext>
              </a:extLst>
            </p:cNvPr>
            <p:cNvSpPr/>
            <p:nvPr/>
          </p:nvSpPr>
          <p:spPr>
            <a:xfrm>
              <a:off x="3804873" y="2655716"/>
              <a:ext cx="1928165" cy="295324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latin typeface="Helvetica" pitchFamily="2" charset="0"/>
                </a:rPr>
                <a:t>3. Register Bidder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F80B5B4-D5FB-AA07-A77D-0486F76F07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330" y="3327183"/>
              <a:ext cx="6060018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7893C1E-5883-3FE2-C95B-0ABAB45F0C1F}"/>
                </a:ext>
              </a:extLst>
            </p:cNvPr>
            <p:cNvSpPr/>
            <p:nvPr/>
          </p:nvSpPr>
          <p:spPr>
            <a:xfrm>
              <a:off x="4443515" y="3186234"/>
              <a:ext cx="2703220" cy="295324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>
                  <a:latin typeface="Helvetica" pitchFamily="2" charset="0"/>
                </a:rPr>
                <a:t>4. Get Aggregated Nonce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469E295-E68D-AECF-736A-81FEC4A6D54F}"/>
                </a:ext>
              </a:extLst>
            </p:cNvPr>
            <p:cNvSpPr txBox="1"/>
            <p:nvPr/>
          </p:nvSpPr>
          <p:spPr>
            <a:xfrm>
              <a:off x="8035914" y="1250855"/>
              <a:ext cx="1493404" cy="3221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b="1" dirty="0">
                  <a:latin typeface="Helvetica" pitchFamily="2" charset="0"/>
                </a:rPr>
                <a:t>Blockchain</a:t>
              </a:r>
            </a:p>
          </p:txBody>
        </p:sp>
      </p:grp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18D398-C402-8D7A-F54F-EF46FD575979}"/>
              </a:ext>
            </a:extLst>
          </p:cNvPr>
          <p:cNvSpPr/>
          <p:nvPr/>
        </p:nvSpPr>
        <p:spPr>
          <a:xfrm>
            <a:off x="481516" y="2657279"/>
            <a:ext cx="1292526" cy="7717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Helvetica" pitchFamily="2" charset="0"/>
              </a:rPr>
              <a:t>Service Provider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E55A79-2A13-4EE4-473B-342D44E0855B}"/>
              </a:ext>
            </a:extLst>
          </p:cNvPr>
          <p:cNvSpPr/>
          <p:nvPr/>
        </p:nvSpPr>
        <p:spPr>
          <a:xfrm>
            <a:off x="3676820" y="3654972"/>
            <a:ext cx="1827932" cy="338554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Helvetica" pitchFamily="2" charset="0"/>
              </a:rPr>
              <a:t>2. Create Auction</a:t>
            </a:r>
          </a:p>
        </p:txBody>
      </p:sp>
      <p:pic>
        <p:nvPicPr>
          <p:cNvPr id="45" name="Picture 44" descr="Shape&#10;&#10;Description automatically generated with low confidence">
            <a:extLst>
              <a:ext uri="{FF2B5EF4-FFF2-40B4-BE49-F238E27FC236}">
                <a16:creationId xmlns:a16="http://schemas.microsoft.com/office/drawing/2014/main" id="{190DB9C0-CE53-C40C-648F-F05A7875C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990" y="2879317"/>
            <a:ext cx="2751614" cy="2874432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DADD1B0-D915-B20C-2593-99746087B064}"/>
              </a:ext>
            </a:extLst>
          </p:cNvPr>
          <p:cNvSpPr/>
          <p:nvPr/>
        </p:nvSpPr>
        <p:spPr>
          <a:xfrm>
            <a:off x="494326" y="3466671"/>
            <a:ext cx="1251774" cy="7717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50" b="1" dirty="0">
                <a:solidFill>
                  <a:schemeClr val="tx1"/>
                </a:solidFill>
                <a:latin typeface="Helvetica" pitchFamily="2" charset="0"/>
              </a:rPr>
              <a:t>Resource Consumer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039086C-DCCD-E13F-27F6-B2228A302734}"/>
              </a:ext>
            </a:extLst>
          </p:cNvPr>
          <p:cNvSpPr/>
          <p:nvPr/>
        </p:nvSpPr>
        <p:spPr>
          <a:xfrm>
            <a:off x="498651" y="4276063"/>
            <a:ext cx="1247449" cy="7717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Helvetica" pitchFamily="2" charset="0"/>
              </a:rPr>
              <a:t>Bidder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5D6F38C-239B-C973-BBCD-FDE361CD8CA9}"/>
              </a:ext>
            </a:extLst>
          </p:cNvPr>
          <p:cNvSpPr/>
          <p:nvPr/>
        </p:nvSpPr>
        <p:spPr>
          <a:xfrm>
            <a:off x="494326" y="5085455"/>
            <a:ext cx="1247448" cy="7717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Helvetica" pitchFamily="2" charset="0"/>
              </a:rPr>
              <a:t>Manager</a:t>
            </a:r>
          </a:p>
        </p:txBody>
      </p:sp>
    </p:spTree>
    <p:extLst>
      <p:ext uri="{BB962C8B-B14F-4D97-AF65-F5344CB8AC3E}">
        <p14:creationId xmlns:p14="http://schemas.microsoft.com/office/powerpoint/2010/main" val="3765001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655BC8-319C-3E85-6A70-C8C1C1AC6BCF}"/>
              </a:ext>
            </a:extLst>
          </p:cNvPr>
          <p:cNvCxnSpPr>
            <a:cxnSpLocks/>
          </p:cNvCxnSpPr>
          <p:nvPr/>
        </p:nvCxnSpPr>
        <p:spPr>
          <a:xfrm flipH="1" flipV="1">
            <a:off x="1904434" y="4216695"/>
            <a:ext cx="5748696" cy="83191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A61B76C-8FFC-E309-8466-3B025C487165}"/>
              </a:ext>
            </a:extLst>
          </p:cNvPr>
          <p:cNvGrpSpPr/>
          <p:nvPr/>
        </p:nvGrpSpPr>
        <p:grpSpPr>
          <a:xfrm>
            <a:off x="695645" y="2555284"/>
            <a:ext cx="8497488" cy="2890336"/>
            <a:chOff x="210351" y="1202156"/>
            <a:chExt cx="8963439" cy="2521267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0F1CCAA-3E3B-D9D5-C126-88A6257FCE46}"/>
                </a:ext>
              </a:extLst>
            </p:cNvPr>
            <p:cNvSpPr/>
            <p:nvPr/>
          </p:nvSpPr>
          <p:spPr>
            <a:xfrm>
              <a:off x="1412837" y="3454946"/>
              <a:ext cx="1804252" cy="268477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latin typeface="Helvetica" pitchFamily="2" charset="0"/>
                </a:rPr>
                <a:t>6. Initialize Enclave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BC40E71-3839-691C-7DB5-DEE466B6F1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2420" y="1516217"/>
              <a:ext cx="6112161" cy="268014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270F65E-B281-7284-1581-037BA5D5F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7053" y="3202333"/>
              <a:ext cx="6162289" cy="186124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123ABB8-E63D-C868-B2B4-413C488A2F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7053" y="2105301"/>
              <a:ext cx="6162289" cy="205744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CF3E3-F6A4-831F-8342-733DE5F8684F}"/>
                </a:ext>
              </a:extLst>
            </p:cNvPr>
            <p:cNvSpPr txBox="1"/>
            <p:nvPr/>
          </p:nvSpPr>
          <p:spPr>
            <a:xfrm>
              <a:off x="210351" y="1202156"/>
              <a:ext cx="1307343" cy="3385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en-US" sz="1600" dirty="0">
                <a:latin typeface="Helvetica" pitchFamily="2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603A6EC-4E10-D5E4-A6B1-FE5695E3BDE0}"/>
                </a:ext>
              </a:extLst>
            </p:cNvPr>
            <p:cNvSpPr/>
            <p:nvPr/>
          </p:nvSpPr>
          <p:spPr>
            <a:xfrm>
              <a:off x="1387053" y="1419808"/>
              <a:ext cx="1804251" cy="456410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latin typeface="Helvetica" pitchFamily="2" charset="0"/>
                </a:rPr>
                <a:t>1. Implement and deploy SC’s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CDD87B6-4292-CAC8-484D-BC3F2B7DF3C5}"/>
                </a:ext>
              </a:extLst>
            </p:cNvPr>
            <p:cNvSpPr/>
            <p:nvPr/>
          </p:nvSpPr>
          <p:spPr>
            <a:xfrm>
              <a:off x="3253087" y="1527124"/>
              <a:ext cx="1570382" cy="268477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latin typeface="Helvetica" pitchFamily="2" charset="0"/>
                </a:rPr>
                <a:t>2. Deploy SC’s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3E381D9-85C8-B58D-A9BA-A4252DF0748F}"/>
                </a:ext>
              </a:extLst>
            </p:cNvPr>
            <p:cNvSpPr/>
            <p:nvPr/>
          </p:nvSpPr>
          <p:spPr>
            <a:xfrm>
              <a:off x="4168047" y="2480759"/>
              <a:ext cx="1804251" cy="268477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latin typeface="Helvetica" pitchFamily="2" charset="0"/>
                </a:rPr>
                <a:t>4. Register Bidder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F80B5B4-D5FB-AA07-A77D-0486F76F07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9101" y="2986724"/>
              <a:ext cx="6050242" cy="160934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7893C1E-5883-3FE2-C95B-0ABAB45F0C1F}"/>
                </a:ext>
              </a:extLst>
            </p:cNvPr>
            <p:cNvSpPr/>
            <p:nvPr/>
          </p:nvSpPr>
          <p:spPr>
            <a:xfrm>
              <a:off x="5333160" y="2914528"/>
              <a:ext cx="1804251" cy="456410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 dirty="0">
                  <a:latin typeface="Helvetica" pitchFamily="2" charset="0"/>
                </a:rPr>
                <a:t>5. Get Aggregated</a:t>
              </a:r>
            </a:p>
            <a:p>
              <a:pPr algn="ctr"/>
              <a:r>
                <a:rPr lang="en-US" sz="1400" i="1" dirty="0">
                  <a:latin typeface="Helvetica" pitchFamily="2" charset="0"/>
                </a:rPr>
                <a:t>Nonce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469E295-E68D-AECF-736A-81FEC4A6D54F}"/>
                </a:ext>
              </a:extLst>
            </p:cNvPr>
            <p:cNvSpPr txBox="1"/>
            <p:nvPr/>
          </p:nvSpPr>
          <p:spPr>
            <a:xfrm>
              <a:off x="7807203" y="1373143"/>
              <a:ext cx="1366587" cy="3489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" pitchFamily="2" charset="0"/>
                </a:rPr>
                <a:t>Ethereum</a:t>
              </a:r>
            </a:p>
          </p:txBody>
        </p:sp>
      </p:grp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DA09C0B-8625-4480-36E0-CB69D1348639}"/>
              </a:ext>
            </a:extLst>
          </p:cNvPr>
          <p:cNvSpPr/>
          <p:nvPr/>
        </p:nvSpPr>
        <p:spPr>
          <a:xfrm>
            <a:off x="492763" y="4885031"/>
            <a:ext cx="1169702" cy="599340"/>
          </a:xfrm>
          <a:prstGeom prst="roundRect">
            <a:avLst/>
          </a:prstGeom>
          <a:solidFill>
            <a:srgbClr val="FE848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Helvetica" pitchFamily="2" charset="0"/>
              </a:rPr>
              <a:t>Manager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43E077-BE6B-8ED8-CF54-A8FF63D4CEB5}"/>
              </a:ext>
            </a:extLst>
          </p:cNvPr>
          <p:cNvSpPr/>
          <p:nvPr/>
        </p:nvSpPr>
        <p:spPr>
          <a:xfrm>
            <a:off x="481515" y="4183466"/>
            <a:ext cx="1169703" cy="616546"/>
          </a:xfrm>
          <a:prstGeom prst="roundRect">
            <a:avLst/>
          </a:prstGeom>
          <a:solidFill>
            <a:srgbClr val="FE848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Helvetica" pitchFamily="2" charset="0"/>
              </a:rPr>
              <a:t>Bidder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18D398-C402-8D7A-F54F-EF46FD575979}"/>
              </a:ext>
            </a:extLst>
          </p:cNvPr>
          <p:cNvSpPr/>
          <p:nvPr/>
        </p:nvSpPr>
        <p:spPr>
          <a:xfrm>
            <a:off x="481515" y="2591357"/>
            <a:ext cx="1169703" cy="711452"/>
          </a:xfrm>
          <a:prstGeom prst="roundRect">
            <a:avLst/>
          </a:prstGeom>
          <a:solidFill>
            <a:srgbClr val="FE848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Helvetica" pitchFamily="2" charset="0"/>
              </a:rPr>
              <a:t>Manager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358AD4D-547F-1FB4-A656-5781FC5152EC}"/>
              </a:ext>
            </a:extLst>
          </p:cNvPr>
          <p:cNvSpPr/>
          <p:nvPr/>
        </p:nvSpPr>
        <p:spPr>
          <a:xfrm>
            <a:off x="481515" y="3382468"/>
            <a:ext cx="1172835" cy="711452"/>
          </a:xfrm>
          <a:prstGeom prst="roundRect">
            <a:avLst/>
          </a:prstGeom>
          <a:solidFill>
            <a:srgbClr val="FE848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60" dirty="0">
                <a:solidFill>
                  <a:schemeClr val="tx1"/>
                </a:solidFill>
                <a:latin typeface="Helvetica" pitchFamily="2" charset="0"/>
              </a:rPr>
              <a:t>Resource Consumer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E55A79-2A13-4EE4-473B-342D44E0855B}"/>
              </a:ext>
            </a:extLst>
          </p:cNvPr>
          <p:cNvSpPr/>
          <p:nvPr/>
        </p:nvSpPr>
        <p:spPr>
          <a:xfrm>
            <a:off x="3841693" y="3507325"/>
            <a:ext cx="1710460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3. Create Auction</a:t>
            </a:r>
          </a:p>
        </p:txBody>
      </p:sp>
      <p:pic>
        <p:nvPicPr>
          <p:cNvPr id="45" name="Picture 44" descr="Shape&#10;&#10;Description automatically generated with low confidence">
            <a:extLst>
              <a:ext uri="{FF2B5EF4-FFF2-40B4-BE49-F238E27FC236}">
                <a16:creationId xmlns:a16="http://schemas.microsoft.com/office/drawing/2014/main" id="{190DB9C0-CE53-C40C-648F-F05A7875C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710" y="3052402"/>
            <a:ext cx="1937300" cy="19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117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7B1D5A8F-05BF-E5A9-CF7B-F643B4F8B01E}"/>
              </a:ext>
            </a:extLst>
          </p:cNvPr>
          <p:cNvSpPr/>
          <p:nvPr/>
        </p:nvSpPr>
        <p:spPr>
          <a:xfrm>
            <a:off x="1509695" y="852098"/>
            <a:ext cx="4866366" cy="1521999"/>
          </a:xfrm>
          <a:prstGeom prst="rect">
            <a:avLst/>
          </a:prstGeom>
          <a:solidFill>
            <a:srgbClr val="0070C0">
              <a:alpha val="1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E7342A5-D3A4-74E6-76A0-41201FACC7E6}"/>
              </a:ext>
            </a:extLst>
          </p:cNvPr>
          <p:cNvSpPr/>
          <p:nvPr/>
        </p:nvSpPr>
        <p:spPr>
          <a:xfrm>
            <a:off x="178487" y="3448507"/>
            <a:ext cx="4866366" cy="1763813"/>
          </a:xfrm>
          <a:prstGeom prst="rect">
            <a:avLst/>
          </a:prstGeom>
          <a:solidFill>
            <a:srgbClr val="0070C0">
              <a:alpha val="1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7461210-D335-222C-B7A3-3807EE344106}"/>
              </a:ext>
            </a:extLst>
          </p:cNvPr>
          <p:cNvCxnSpPr>
            <a:cxnSpLocks/>
          </p:cNvCxnSpPr>
          <p:nvPr/>
        </p:nvCxnSpPr>
        <p:spPr>
          <a:xfrm>
            <a:off x="3430066" y="668031"/>
            <a:ext cx="0" cy="4936843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A1BF4C8-B721-3BC5-F1E4-77C66C3364B9}"/>
              </a:ext>
            </a:extLst>
          </p:cNvPr>
          <p:cNvCxnSpPr>
            <a:cxnSpLocks/>
          </p:cNvCxnSpPr>
          <p:nvPr/>
        </p:nvCxnSpPr>
        <p:spPr>
          <a:xfrm>
            <a:off x="1022707" y="668031"/>
            <a:ext cx="0" cy="4936843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E18A01B-E048-B060-4D2A-CC710F021C79}"/>
              </a:ext>
            </a:extLst>
          </p:cNvPr>
          <p:cNvCxnSpPr>
            <a:cxnSpLocks/>
          </p:cNvCxnSpPr>
          <p:nvPr/>
        </p:nvCxnSpPr>
        <p:spPr>
          <a:xfrm flipV="1">
            <a:off x="1154538" y="4430244"/>
            <a:ext cx="1419171" cy="41394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1EE2ECF-BBD5-6A6C-D055-B9A867DB7AAD}"/>
              </a:ext>
            </a:extLst>
          </p:cNvPr>
          <p:cNvCxnSpPr>
            <a:cxnSpLocks/>
          </p:cNvCxnSpPr>
          <p:nvPr/>
        </p:nvCxnSpPr>
        <p:spPr>
          <a:xfrm flipH="1" flipV="1">
            <a:off x="1765691" y="3786299"/>
            <a:ext cx="802472" cy="31142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C4EA06-2831-6132-6062-51AE21715DED}"/>
              </a:ext>
            </a:extLst>
          </p:cNvPr>
          <p:cNvCxnSpPr>
            <a:cxnSpLocks/>
          </p:cNvCxnSpPr>
          <p:nvPr/>
        </p:nvCxnSpPr>
        <p:spPr>
          <a:xfrm>
            <a:off x="1908169" y="3105477"/>
            <a:ext cx="5398053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6582CD8-1E8E-DCF7-6B7F-4308A9C01F52}"/>
              </a:ext>
            </a:extLst>
          </p:cNvPr>
          <p:cNvCxnSpPr>
            <a:cxnSpLocks/>
          </p:cNvCxnSpPr>
          <p:nvPr/>
        </p:nvCxnSpPr>
        <p:spPr>
          <a:xfrm flipH="1" flipV="1">
            <a:off x="5456264" y="2519155"/>
            <a:ext cx="1861712" cy="50514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7B0259-5719-F340-AD12-7E9A3B590BB2}"/>
              </a:ext>
            </a:extLst>
          </p:cNvPr>
          <p:cNvCxnSpPr>
            <a:cxnSpLocks/>
          </p:cNvCxnSpPr>
          <p:nvPr/>
        </p:nvCxnSpPr>
        <p:spPr>
          <a:xfrm flipH="1" flipV="1">
            <a:off x="3441897" y="1388452"/>
            <a:ext cx="1861712" cy="50514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7A360C3-81DA-2CD4-EF97-5FE56F6E70B6}"/>
              </a:ext>
            </a:extLst>
          </p:cNvPr>
          <p:cNvSpPr txBox="1"/>
          <p:nvPr/>
        </p:nvSpPr>
        <p:spPr>
          <a:xfrm>
            <a:off x="444131" y="238539"/>
            <a:ext cx="1286902" cy="4294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Manager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D55B2E-60F4-2AE6-CFA0-1A9913708979}"/>
              </a:ext>
            </a:extLst>
          </p:cNvPr>
          <p:cNvSpPr/>
          <p:nvPr/>
        </p:nvSpPr>
        <p:spPr>
          <a:xfrm>
            <a:off x="279942" y="4874865"/>
            <a:ext cx="1707355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7. Submit Tx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E53D97-B2D3-E28D-7F32-F05804D72A79}"/>
              </a:ext>
            </a:extLst>
          </p:cNvPr>
          <p:cNvSpPr/>
          <p:nvPr/>
        </p:nvSpPr>
        <p:spPr>
          <a:xfrm>
            <a:off x="249980" y="2952086"/>
            <a:ext cx="1545456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4. Get Bids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50A4B-6A95-D2A9-F27A-C8A513409AAD}"/>
              </a:ext>
            </a:extLst>
          </p:cNvPr>
          <p:cNvSpPr txBox="1"/>
          <p:nvPr/>
        </p:nvSpPr>
        <p:spPr>
          <a:xfrm>
            <a:off x="2853971" y="238539"/>
            <a:ext cx="1175853" cy="4294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Enclave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303922-AF51-3B5B-BEFD-F92515E91EFB}"/>
              </a:ext>
            </a:extLst>
          </p:cNvPr>
          <p:cNvSpPr/>
          <p:nvPr/>
        </p:nvSpPr>
        <p:spPr>
          <a:xfrm>
            <a:off x="2657337" y="1150542"/>
            <a:ext cx="1545456" cy="521526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1. Generate</a:t>
            </a:r>
          </a:p>
          <a:p>
            <a:pPr algn="ctr"/>
            <a:r>
              <a:rPr lang="en-US" sz="1400" i="1" dirty="0">
                <a:latin typeface="Helvetica" pitchFamily="2" charset="0"/>
              </a:rPr>
              <a:t>Report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EBE3A4-9668-00BF-EFB0-08E4DBAF6127}"/>
              </a:ext>
            </a:extLst>
          </p:cNvPr>
          <p:cNvCxnSpPr>
            <a:cxnSpLocks/>
          </p:cNvCxnSpPr>
          <p:nvPr/>
        </p:nvCxnSpPr>
        <p:spPr>
          <a:xfrm>
            <a:off x="5456264" y="698708"/>
            <a:ext cx="0" cy="4936843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7050DD-A640-043A-A211-640B7A4FE371}"/>
              </a:ext>
            </a:extLst>
          </p:cNvPr>
          <p:cNvSpPr txBox="1"/>
          <p:nvPr/>
        </p:nvSpPr>
        <p:spPr>
          <a:xfrm>
            <a:off x="5041799" y="238539"/>
            <a:ext cx="990242" cy="4294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Bidder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3ABE19-EFEB-7C7F-0D73-91DC5BD6F1A1}"/>
              </a:ext>
            </a:extLst>
          </p:cNvPr>
          <p:cNvSpPr/>
          <p:nvPr/>
        </p:nvSpPr>
        <p:spPr>
          <a:xfrm>
            <a:off x="4800247" y="1916290"/>
            <a:ext cx="1473345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2. Verify Report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ECDC4EF-2F19-00FB-3A50-FD707C3FEEF1}"/>
              </a:ext>
            </a:extLst>
          </p:cNvPr>
          <p:cNvSpPr/>
          <p:nvPr/>
        </p:nvSpPr>
        <p:spPr>
          <a:xfrm>
            <a:off x="256597" y="3516168"/>
            <a:ext cx="1545456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5. Send Bids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4C1D1D7-34B0-4F7A-D0FC-4393595D4C6F}"/>
              </a:ext>
            </a:extLst>
          </p:cNvPr>
          <p:cNvSpPr/>
          <p:nvPr/>
        </p:nvSpPr>
        <p:spPr>
          <a:xfrm>
            <a:off x="2674470" y="4114179"/>
            <a:ext cx="2024303" cy="52322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6. Decrypt and Determine Winner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A94E032-8664-4E16-925D-0820D0B354FB}"/>
              </a:ext>
            </a:extLst>
          </p:cNvPr>
          <p:cNvCxnSpPr>
            <a:cxnSpLocks/>
          </p:cNvCxnSpPr>
          <p:nvPr/>
        </p:nvCxnSpPr>
        <p:spPr>
          <a:xfrm flipH="1">
            <a:off x="2070747" y="5028255"/>
            <a:ext cx="5247230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CBF360E-7F12-B15F-8213-C174A0A07FE0}"/>
              </a:ext>
            </a:extLst>
          </p:cNvPr>
          <p:cNvCxnSpPr>
            <a:cxnSpLocks/>
          </p:cNvCxnSpPr>
          <p:nvPr/>
        </p:nvCxnSpPr>
        <p:spPr>
          <a:xfrm flipH="1">
            <a:off x="7401426" y="698708"/>
            <a:ext cx="21456" cy="4956657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994B7DB-14A3-9823-AAE9-7D0062F49CD4}"/>
              </a:ext>
            </a:extLst>
          </p:cNvPr>
          <p:cNvSpPr txBox="1"/>
          <p:nvPr/>
        </p:nvSpPr>
        <p:spPr>
          <a:xfrm>
            <a:off x="6585152" y="237043"/>
            <a:ext cx="1675459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Helvetica" pitchFamily="2" charset="0"/>
              </a:rPr>
              <a:t>Blockchain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234288-B2AC-46A6-E79C-2F213391C0CB}"/>
              </a:ext>
            </a:extLst>
          </p:cNvPr>
          <p:cNvSpPr/>
          <p:nvPr/>
        </p:nvSpPr>
        <p:spPr>
          <a:xfrm>
            <a:off x="5619621" y="2416134"/>
            <a:ext cx="1592069" cy="52322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3. Encrypt and Submit Bid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F14FE35-59D8-9857-196E-C7F1EDF9C6CE}"/>
              </a:ext>
            </a:extLst>
          </p:cNvPr>
          <p:cNvSpPr txBox="1"/>
          <p:nvPr/>
        </p:nvSpPr>
        <p:spPr>
          <a:xfrm rot="16200000">
            <a:off x="762453" y="1457264"/>
            <a:ext cx="1692212" cy="304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Helvetica" pitchFamily="2" charset="0"/>
              </a:rPr>
              <a:t>Remote Attestation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A2D3E09-7295-B987-17DD-0A3A6BF2E1E3}"/>
              </a:ext>
            </a:extLst>
          </p:cNvPr>
          <p:cNvSpPr txBox="1"/>
          <p:nvPr/>
        </p:nvSpPr>
        <p:spPr>
          <a:xfrm rot="5400000">
            <a:off x="4083962" y="4163828"/>
            <a:ext cx="1534221" cy="304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Helvetica" pitchFamily="2" charset="0"/>
              </a:rPr>
              <a:t>Winner Selection</a:t>
            </a:r>
          </a:p>
        </p:txBody>
      </p:sp>
    </p:spTree>
    <p:extLst>
      <p:ext uri="{BB962C8B-B14F-4D97-AF65-F5344CB8AC3E}">
        <p14:creationId xmlns:p14="http://schemas.microsoft.com/office/powerpoint/2010/main" val="1516365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7B1D5A8F-05BF-E5A9-CF7B-F643B4F8B01E}"/>
              </a:ext>
            </a:extLst>
          </p:cNvPr>
          <p:cNvSpPr/>
          <p:nvPr/>
        </p:nvSpPr>
        <p:spPr>
          <a:xfrm>
            <a:off x="157271" y="2625523"/>
            <a:ext cx="4933975" cy="795938"/>
          </a:xfrm>
          <a:prstGeom prst="rect">
            <a:avLst/>
          </a:prstGeom>
          <a:solidFill>
            <a:srgbClr val="0070C0">
              <a:alpha val="1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E7342A5-D3A4-74E6-76A0-41201FACC7E6}"/>
              </a:ext>
            </a:extLst>
          </p:cNvPr>
          <p:cNvSpPr/>
          <p:nvPr/>
        </p:nvSpPr>
        <p:spPr>
          <a:xfrm>
            <a:off x="157271" y="3809855"/>
            <a:ext cx="5900405" cy="175141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E18A01B-E048-B060-4D2A-CC710F021C79}"/>
              </a:ext>
            </a:extLst>
          </p:cNvPr>
          <p:cNvCxnSpPr>
            <a:cxnSpLocks/>
          </p:cNvCxnSpPr>
          <p:nvPr/>
        </p:nvCxnSpPr>
        <p:spPr>
          <a:xfrm>
            <a:off x="1069218" y="4888933"/>
            <a:ext cx="1476058" cy="9029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1EE2ECF-BBD5-6A6C-D055-B9A867DB7AAD}"/>
              </a:ext>
            </a:extLst>
          </p:cNvPr>
          <p:cNvCxnSpPr>
            <a:cxnSpLocks/>
          </p:cNvCxnSpPr>
          <p:nvPr/>
        </p:nvCxnSpPr>
        <p:spPr>
          <a:xfrm flipH="1">
            <a:off x="1739334" y="4431884"/>
            <a:ext cx="833141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C4EA06-2831-6132-6062-51AE21715DED}"/>
              </a:ext>
            </a:extLst>
          </p:cNvPr>
          <p:cNvCxnSpPr>
            <a:cxnSpLocks/>
          </p:cNvCxnSpPr>
          <p:nvPr/>
        </p:nvCxnSpPr>
        <p:spPr>
          <a:xfrm>
            <a:off x="1837766" y="3933301"/>
            <a:ext cx="3855248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6582CD8-1E8E-DCF7-6B7F-4308A9C01F52}"/>
              </a:ext>
            </a:extLst>
          </p:cNvPr>
          <p:cNvCxnSpPr>
            <a:cxnSpLocks/>
          </p:cNvCxnSpPr>
          <p:nvPr/>
        </p:nvCxnSpPr>
        <p:spPr>
          <a:xfrm flipH="1">
            <a:off x="3804535" y="3608194"/>
            <a:ext cx="1922245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7B0259-5719-F340-AD12-7E9A3B590BB2}"/>
              </a:ext>
            </a:extLst>
          </p:cNvPr>
          <p:cNvCxnSpPr>
            <a:cxnSpLocks/>
          </p:cNvCxnSpPr>
          <p:nvPr/>
        </p:nvCxnSpPr>
        <p:spPr>
          <a:xfrm flipH="1">
            <a:off x="3035707" y="3023492"/>
            <a:ext cx="507154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7A360C3-81DA-2CD4-EF97-5FE56F6E70B6}"/>
              </a:ext>
            </a:extLst>
          </p:cNvPr>
          <p:cNvSpPr txBox="1"/>
          <p:nvPr/>
        </p:nvSpPr>
        <p:spPr>
          <a:xfrm>
            <a:off x="444131" y="238539"/>
            <a:ext cx="1286902" cy="4294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Manager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50A4B-6A95-D2A9-F27A-C8A513409AAD}"/>
              </a:ext>
            </a:extLst>
          </p:cNvPr>
          <p:cNvSpPr txBox="1"/>
          <p:nvPr/>
        </p:nvSpPr>
        <p:spPr>
          <a:xfrm>
            <a:off x="1993914" y="256371"/>
            <a:ext cx="1175853" cy="4294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Enclave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EBE3A4-9668-00BF-EFB0-08E4DBAF6127}"/>
              </a:ext>
            </a:extLst>
          </p:cNvPr>
          <p:cNvCxnSpPr>
            <a:cxnSpLocks/>
          </p:cNvCxnSpPr>
          <p:nvPr/>
        </p:nvCxnSpPr>
        <p:spPr>
          <a:xfrm>
            <a:off x="3869849" y="711585"/>
            <a:ext cx="0" cy="5464771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7050DD-A640-043A-A211-640B7A4FE371}"/>
              </a:ext>
            </a:extLst>
          </p:cNvPr>
          <p:cNvSpPr txBox="1"/>
          <p:nvPr/>
        </p:nvSpPr>
        <p:spPr>
          <a:xfrm>
            <a:off x="3430065" y="256371"/>
            <a:ext cx="990242" cy="4294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Bidder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A94E032-8664-4E16-925D-0820D0B354FB}"/>
              </a:ext>
            </a:extLst>
          </p:cNvPr>
          <p:cNvCxnSpPr>
            <a:cxnSpLocks/>
          </p:cNvCxnSpPr>
          <p:nvPr/>
        </p:nvCxnSpPr>
        <p:spPr>
          <a:xfrm flipH="1">
            <a:off x="1837766" y="5301178"/>
            <a:ext cx="3855248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CBF360E-7F12-B15F-8213-C174A0A07FE0}"/>
              </a:ext>
            </a:extLst>
          </p:cNvPr>
          <p:cNvCxnSpPr>
            <a:cxnSpLocks/>
          </p:cNvCxnSpPr>
          <p:nvPr/>
        </p:nvCxnSpPr>
        <p:spPr>
          <a:xfrm flipH="1">
            <a:off x="5732564" y="711585"/>
            <a:ext cx="9581" cy="5406582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994B7DB-14A3-9823-AAE9-7D0062F49CD4}"/>
              </a:ext>
            </a:extLst>
          </p:cNvPr>
          <p:cNvSpPr txBox="1"/>
          <p:nvPr/>
        </p:nvSpPr>
        <p:spPr>
          <a:xfrm>
            <a:off x="5361338" y="296992"/>
            <a:ext cx="575799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BC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234288-B2AC-46A6-E79C-2F213391C0CB}"/>
              </a:ext>
            </a:extLst>
          </p:cNvPr>
          <p:cNvSpPr/>
          <p:nvPr/>
        </p:nvSpPr>
        <p:spPr>
          <a:xfrm>
            <a:off x="3299451" y="3498081"/>
            <a:ext cx="1996966" cy="276999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i="1" dirty="0">
                <a:latin typeface="Helvetica" pitchFamily="2" charset="0"/>
              </a:rPr>
              <a:t>8. Encrypt and Submit Bid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F14FE35-59D8-9857-196E-C7F1EDF9C6CE}"/>
              </a:ext>
            </a:extLst>
          </p:cNvPr>
          <p:cNvSpPr txBox="1"/>
          <p:nvPr/>
        </p:nvSpPr>
        <p:spPr>
          <a:xfrm rot="16200000">
            <a:off x="-212055" y="2808596"/>
            <a:ext cx="118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Helvetica" pitchFamily="2" charset="0"/>
              </a:rPr>
              <a:t>Remote Attestation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A2D3E09-7295-B987-17DD-0A3A6BF2E1E3}"/>
              </a:ext>
            </a:extLst>
          </p:cNvPr>
          <p:cNvSpPr txBox="1"/>
          <p:nvPr/>
        </p:nvSpPr>
        <p:spPr>
          <a:xfrm rot="5400000">
            <a:off x="5056409" y="4531674"/>
            <a:ext cx="1635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Helvetica" pitchFamily="2" charset="0"/>
              </a:rPr>
              <a:t>Winner Selection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F7AAB77-EC74-0BE0-B7B0-8183C1CCB435}"/>
              </a:ext>
            </a:extLst>
          </p:cNvPr>
          <p:cNvCxnSpPr>
            <a:cxnSpLocks/>
          </p:cNvCxnSpPr>
          <p:nvPr/>
        </p:nvCxnSpPr>
        <p:spPr>
          <a:xfrm flipH="1">
            <a:off x="7282818" y="673829"/>
            <a:ext cx="37242" cy="5444338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4A302F-9F22-1D38-FBBA-38F1B82F1842}"/>
              </a:ext>
            </a:extLst>
          </p:cNvPr>
          <p:cNvSpPr txBox="1"/>
          <p:nvPr/>
        </p:nvSpPr>
        <p:spPr>
          <a:xfrm>
            <a:off x="6130863" y="318635"/>
            <a:ext cx="2255747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Service Provider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D6B55C-1E07-C18C-473D-8074893876A6}"/>
              </a:ext>
            </a:extLst>
          </p:cNvPr>
          <p:cNvCxnSpPr>
            <a:cxnSpLocks/>
          </p:cNvCxnSpPr>
          <p:nvPr/>
        </p:nvCxnSpPr>
        <p:spPr>
          <a:xfrm>
            <a:off x="5742145" y="1077667"/>
            <a:ext cx="1583699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21D17E5-5A19-9603-4E5B-EA423B51EDD3}"/>
              </a:ext>
            </a:extLst>
          </p:cNvPr>
          <p:cNvSpPr/>
          <p:nvPr/>
        </p:nvSpPr>
        <p:spPr>
          <a:xfrm>
            <a:off x="6770873" y="816057"/>
            <a:ext cx="1545456" cy="52322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1. Implement and deploy SC’s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5C53BB-5C03-5DE3-9757-EA0D0B7F1A80}"/>
              </a:ext>
            </a:extLst>
          </p:cNvPr>
          <p:cNvCxnSpPr>
            <a:cxnSpLocks/>
          </p:cNvCxnSpPr>
          <p:nvPr/>
        </p:nvCxnSpPr>
        <p:spPr>
          <a:xfrm flipH="1">
            <a:off x="12167096" y="733169"/>
            <a:ext cx="21456" cy="4956657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685BC8-1F1C-AB0D-5139-99D1A929E9B0}"/>
              </a:ext>
            </a:extLst>
          </p:cNvPr>
          <p:cNvSpPr txBox="1"/>
          <p:nvPr/>
        </p:nvSpPr>
        <p:spPr>
          <a:xfrm>
            <a:off x="8662822" y="267240"/>
            <a:ext cx="2775120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Resource Consumer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0E336D-5076-B7B5-1C39-4275D5DA51CA}"/>
              </a:ext>
            </a:extLst>
          </p:cNvPr>
          <p:cNvCxnSpPr>
            <a:cxnSpLocks/>
          </p:cNvCxnSpPr>
          <p:nvPr/>
        </p:nvCxnSpPr>
        <p:spPr>
          <a:xfrm flipH="1">
            <a:off x="9961295" y="711585"/>
            <a:ext cx="14230" cy="5329769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13ABE19-EFEB-7C7F-0D73-91DC5BD6F1A1}"/>
              </a:ext>
            </a:extLst>
          </p:cNvPr>
          <p:cNvSpPr/>
          <p:nvPr/>
        </p:nvSpPr>
        <p:spPr>
          <a:xfrm>
            <a:off x="3576525" y="2866092"/>
            <a:ext cx="1473345" cy="292388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300" i="1" dirty="0">
                <a:latin typeface="Helvetica" pitchFamily="2" charset="0"/>
              </a:rPr>
              <a:t>7. Verify Report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5CA0CB-E64A-E4F6-42B9-900BF1BA476D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5742145" y="1395919"/>
            <a:ext cx="3396667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306C007-3AC1-CE7A-FC9D-BEEBF40DD254}"/>
              </a:ext>
            </a:extLst>
          </p:cNvPr>
          <p:cNvCxnSpPr>
            <a:cxnSpLocks/>
          </p:cNvCxnSpPr>
          <p:nvPr/>
        </p:nvCxnSpPr>
        <p:spPr>
          <a:xfrm flipH="1">
            <a:off x="3900017" y="1655120"/>
            <a:ext cx="1842128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C8600C0-782B-BFAB-FBF0-FD91DBD2BAC4}"/>
              </a:ext>
            </a:extLst>
          </p:cNvPr>
          <p:cNvSpPr/>
          <p:nvPr/>
        </p:nvSpPr>
        <p:spPr>
          <a:xfrm>
            <a:off x="3299451" y="1484537"/>
            <a:ext cx="1140796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3. Register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0196918-A296-30A5-9CD2-E4936B6306D3}"/>
              </a:ext>
            </a:extLst>
          </p:cNvPr>
          <p:cNvCxnSpPr>
            <a:cxnSpLocks/>
          </p:cNvCxnSpPr>
          <p:nvPr/>
        </p:nvCxnSpPr>
        <p:spPr>
          <a:xfrm>
            <a:off x="1980728" y="1929507"/>
            <a:ext cx="3712286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5A2809F-7D21-EEF3-B04C-674440C0E147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1880095" y="2393528"/>
            <a:ext cx="611926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45A4F6B-9026-FF12-5762-18F00E182927}"/>
              </a:ext>
            </a:extLst>
          </p:cNvPr>
          <p:cNvSpPr/>
          <p:nvPr/>
        </p:nvSpPr>
        <p:spPr>
          <a:xfrm>
            <a:off x="9138812" y="1242030"/>
            <a:ext cx="1545456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2. Create Auction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75E62EA-6B95-347B-4770-6369B3FEFFC6}"/>
              </a:ext>
            </a:extLst>
          </p:cNvPr>
          <p:cNvCxnSpPr>
            <a:cxnSpLocks/>
          </p:cNvCxnSpPr>
          <p:nvPr/>
        </p:nvCxnSpPr>
        <p:spPr>
          <a:xfrm>
            <a:off x="2572475" y="711584"/>
            <a:ext cx="0" cy="5464771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D24D12E-6DD3-95D4-0989-815DEEBC681B}"/>
              </a:ext>
            </a:extLst>
          </p:cNvPr>
          <p:cNvCxnSpPr>
            <a:cxnSpLocks/>
          </p:cNvCxnSpPr>
          <p:nvPr/>
        </p:nvCxnSpPr>
        <p:spPr>
          <a:xfrm>
            <a:off x="1078158" y="727879"/>
            <a:ext cx="0" cy="5464771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964615A0-8218-231E-5A32-9A8BD80A23DE}"/>
              </a:ext>
            </a:extLst>
          </p:cNvPr>
          <p:cNvSpPr/>
          <p:nvPr/>
        </p:nvSpPr>
        <p:spPr>
          <a:xfrm>
            <a:off x="5980952" y="685863"/>
            <a:ext cx="5132890" cy="1044138"/>
          </a:xfrm>
          <a:prstGeom prst="rect">
            <a:avLst/>
          </a:prstGeom>
          <a:solidFill>
            <a:schemeClr val="accent2">
              <a:alpha val="1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70D16B9-C51C-91AF-C624-C3EBAAC64E5F}"/>
              </a:ext>
            </a:extLst>
          </p:cNvPr>
          <p:cNvSpPr txBox="1"/>
          <p:nvPr/>
        </p:nvSpPr>
        <p:spPr>
          <a:xfrm rot="5400000">
            <a:off x="10293736" y="1033090"/>
            <a:ext cx="1184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Helvetica" pitchFamily="2" charset="0"/>
              </a:rPr>
              <a:t>Initialization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303922-AF51-3B5B-BEFD-F92515E91EFB}"/>
              </a:ext>
            </a:extLst>
          </p:cNvPr>
          <p:cNvSpPr/>
          <p:nvPr/>
        </p:nvSpPr>
        <p:spPr>
          <a:xfrm>
            <a:off x="1809323" y="2680709"/>
            <a:ext cx="1226384" cy="492443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300" i="1" dirty="0">
                <a:latin typeface="Helvetica" pitchFamily="2" charset="0"/>
              </a:rPr>
              <a:t>6. Generate</a:t>
            </a:r>
          </a:p>
          <a:p>
            <a:pPr algn="ctr"/>
            <a:r>
              <a:rPr lang="en-US" sz="1300" i="1" dirty="0">
                <a:latin typeface="Helvetica" pitchFamily="2" charset="0"/>
              </a:rPr>
              <a:t>Report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E53D97-B2D3-E28D-7F32-F05804D72A79}"/>
              </a:ext>
            </a:extLst>
          </p:cNvPr>
          <p:cNvSpPr/>
          <p:nvPr/>
        </p:nvSpPr>
        <p:spPr>
          <a:xfrm>
            <a:off x="193878" y="3879242"/>
            <a:ext cx="1545456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9. Get Bids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ECDC4EF-2F19-00FB-3A50-FD707C3FEEF1}"/>
              </a:ext>
            </a:extLst>
          </p:cNvPr>
          <p:cNvSpPr/>
          <p:nvPr/>
        </p:nvSpPr>
        <p:spPr>
          <a:xfrm>
            <a:off x="231048" y="4278494"/>
            <a:ext cx="1545456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10. Send Bids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D55B2E-60F4-2AE6-CFA0-1A9913708979}"/>
              </a:ext>
            </a:extLst>
          </p:cNvPr>
          <p:cNvSpPr/>
          <p:nvPr/>
        </p:nvSpPr>
        <p:spPr>
          <a:xfrm>
            <a:off x="273373" y="5147788"/>
            <a:ext cx="1707355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12. Submit Tx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DD21FF-CDDB-A947-6541-A5B2DFF2C7CE}"/>
              </a:ext>
            </a:extLst>
          </p:cNvPr>
          <p:cNvSpPr/>
          <p:nvPr/>
        </p:nvSpPr>
        <p:spPr>
          <a:xfrm>
            <a:off x="163403" y="1655119"/>
            <a:ext cx="1802241" cy="461665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latin typeface="Helvetica" pitchFamily="2" charset="0"/>
              </a:rPr>
              <a:t>4. Get Aggregated Nonce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4C1D1D7-34B0-4F7A-D0FC-4393595D4C6F}"/>
              </a:ext>
            </a:extLst>
          </p:cNvPr>
          <p:cNvSpPr/>
          <p:nvPr/>
        </p:nvSpPr>
        <p:spPr>
          <a:xfrm>
            <a:off x="1791147" y="4656786"/>
            <a:ext cx="2024303" cy="461665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latin typeface="Helvetica" pitchFamily="2" charset="0"/>
              </a:rPr>
              <a:t>11. Decrypt and Determine Winner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28A738-F3AF-32A5-EE41-2E019C698403}"/>
              </a:ext>
            </a:extLst>
          </p:cNvPr>
          <p:cNvSpPr/>
          <p:nvPr/>
        </p:nvSpPr>
        <p:spPr>
          <a:xfrm>
            <a:off x="172531" y="2239639"/>
            <a:ext cx="1707564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5. Initialize Enclave</a:t>
            </a:r>
          </a:p>
        </p:txBody>
      </p:sp>
    </p:spTree>
    <p:extLst>
      <p:ext uri="{BB962C8B-B14F-4D97-AF65-F5344CB8AC3E}">
        <p14:creationId xmlns:p14="http://schemas.microsoft.com/office/powerpoint/2010/main" val="3566172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63">
            <a:extLst>
              <a:ext uri="{FF2B5EF4-FFF2-40B4-BE49-F238E27FC236}">
                <a16:creationId xmlns:a16="http://schemas.microsoft.com/office/drawing/2014/main" id="{81F43521-43AD-3ADB-298F-7FC29CF7A497}"/>
              </a:ext>
            </a:extLst>
          </p:cNvPr>
          <p:cNvSpPr/>
          <p:nvPr/>
        </p:nvSpPr>
        <p:spPr>
          <a:xfrm>
            <a:off x="1991266" y="585933"/>
            <a:ext cx="1448270" cy="300403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  <a:effectLst>
            <a:softEdge rad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DAAC8F3-0C3C-FDC3-1E34-EDC6B85F342F}"/>
              </a:ext>
            </a:extLst>
          </p:cNvPr>
          <p:cNvCxnSpPr>
            <a:cxnSpLocks/>
          </p:cNvCxnSpPr>
          <p:nvPr/>
        </p:nvCxnSpPr>
        <p:spPr>
          <a:xfrm flipH="1" flipV="1">
            <a:off x="3507628" y="1551065"/>
            <a:ext cx="1835745" cy="831"/>
          </a:xfrm>
          <a:prstGeom prst="straightConnector1">
            <a:avLst/>
          </a:prstGeom>
          <a:ln w="6350" cmpd="tri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733B098-6925-5F7F-74AB-C3A39C50A2FD}"/>
              </a:ext>
            </a:extLst>
          </p:cNvPr>
          <p:cNvSpPr/>
          <p:nvPr/>
        </p:nvSpPr>
        <p:spPr>
          <a:xfrm>
            <a:off x="5408326" y="580512"/>
            <a:ext cx="609420" cy="2924616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  <a:effectLst>
            <a:softEdge rad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7AC08583-8AD5-2D03-7EEB-8BA761F739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494398" y="591424"/>
            <a:ext cx="442277" cy="442277"/>
          </a:xfrm>
          <a:prstGeom prst="rect">
            <a:avLst/>
          </a:prstGeom>
        </p:spPr>
      </p:pic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052FEACA-3C39-0210-66C0-7A0C13AB0E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680002">
            <a:off x="5539553" y="1040335"/>
            <a:ext cx="351616" cy="35161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ED70A05-9B70-EED5-18E0-FC4AF682F3FB}"/>
              </a:ext>
            </a:extLst>
          </p:cNvPr>
          <p:cNvSpPr txBox="1"/>
          <p:nvPr/>
        </p:nvSpPr>
        <p:spPr>
          <a:xfrm>
            <a:off x="5610830" y="2866300"/>
            <a:ext cx="23201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.</a:t>
            </a:r>
          </a:p>
          <a:p>
            <a:pPr algn="ctr"/>
            <a:r>
              <a:rPr lang="en-US" sz="1100" b="1" dirty="0"/>
              <a:t>.</a:t>
            </a:r>
          </a:p>
          <a:p>
            <a:pPr algn="ctr"/>
            <a:r>
              <a:rPr lang="en-US" sz="1100" b="1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58E031-D00A-1EAD-A4C9-07B4C988A3C6}"/>
              </a:ext>
            </a:extLst>
          </p:cNvPr>
          <p:cNvSpPr txBox="1"/>
          <p:nvPr/>
        </p:nvSpPr>
        <p:spPr>
          <a:xfrm>
            <a:off x="5097683" y="213219"/>
            <a:ext cx="1185966" cy="36933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Blockchain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8BF5CD-24C4-EFE9-62DE-D22106C230BB}"/>
              </a:ext>
            </a:extLst>
          </p:cNvPr>
          <p:cNvSpPr txBox="1"/>
          <p:nvPr/>
        </p:nvSpPr>
        <p:spPr>
          <a:xfrm>
            <a:off x="5328539" y="852031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</a:t>
            </a:r>
            <a:endParaRPr lang="en-US" i="1" dirty="0"/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EFCC0B0-C25C-B895-1040-6A17E6CC0E3F}"/>
              </a:ext>
            </a:extLst>
          </p:cNvPr>
          <p:cNvGrpSpPr/>
          <p:nvPr/>
        </p:nvGrpSpPr>
        <p:grpSpPr>
          <a:xfrm>
            <a:off x="2233627" y="2924781"/>
            <a:ext cx="986416" cy="596816"/>
            <a:chOff x="2160423" y="1369885"/>
            <a:chExt cx="986416" cy="650924"/>
          </a:xfrm>
          <a:noFill/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8291657-9BE5-DA98-354C-5B284296BE52}"/>
                </a:ext>
              </a:extLst>
            </p:cNvPr>
            <p:cNvSpPr/>
            <p:nvPr/>
          </p:nvSpPr>
          <p:spPr>
            <a:xfrm>
              <a:off x="2160423" y="1369885"/>
              <a:ext cx="986416" cy="650924"/>
            </a:xfrm>
            <a:prstGeom prst="rect">
              <a:avLst/>
            </a:pr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568A2F9-2CC7-C04E-C4C7-2B1131035329}"/>
                </a:ext>
              </a:extLst>
            </p:cNvPr>
            <p:cNvSpPr txBox="1"/>
            <p:nvPr/>
          </p:nvSpPr>
          <p:spPr>
            <a:xfrm>
              <a:off x="2270468" y="1372787"/>
              <a:ext cx="736347" cy="27699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/>
                <a:t>Enclave</a:t>
              </a:r>
              <a:endParaRPr lang="en-US" sz="1600" dirty="0"/>
            </a:p>
          </p:txBody>
        </p:sp>
        <p:pic>
          <p:nvPicPr>
            <p:cNvPr id="49" name="Picture 48" descr="Icon&#10;&#10;Description automatically generated">
              <a:extLst>
                <a:ext uri="{FF2B5EF4-FFF2-40B4-BE49-F238E27FC236}">
                  <a16:creationId xmlns:a16="http://schemas.microsoft.com/office/drawing/2014/main" id="{BD903FA5-B120-CEC2-B87E-DD5E3D878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1251" y="1653297"/>
              <a:ext cx="314813" cy="314813"/>
            </a:xfrm>
            <a:prstGeom prst="rect">
              <a:avLst/>
            </a:prstGeom>
            <a:grpFill/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A81497F-55DF-6EFD-E45D-AAA8A81312E7}"/>
              </a:ext>
            </a:extLst>
          </p:cNvPr>
          <p:cNvGrpSpPr/>
          <p:nvPr/>
        </p:nvGrpSpPr>
        <p:grpSpPr>
          <a:xfrm>
            <a:off x="2209438" y="638491"/>
            <a:ext cx="1015794" cy="1930934"/>
            <a:chOff x="2187000" y="-546726"/>
            <a:chExt cx="1015794" cy="100219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7D1E58-6023-3EFA-7DC1-713DE5AE618F}"/>
                </a:ext>
              </a:extLst>
            </p:cNvPr>
            <p:cNvSpPr/>
            <p:nvPr/>
          </p:nvSpPr>
          <p:spPr>
            <a:xfrm>
              <a:off x="2187000" y="-546726"/>
              <a:ext cx="1015794" cy="100219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384AF61-1EAE-A984-6CAE-9AAE9DDF7BAB}"/>
                </a:ext>
              </a:extLst>
            </p:cNvPr>
            <p:cNvSpPr txBox="1"/>
            <p:nvPr/>
          </p:nvSpPr>
          <p:spPr>
            <a:xfrm>
              <a:off x="2220051" y="-435894"/>
              <a:ext cx="887327" cy="2316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50" dirty="0"/>
                <a:t>Untrusted</a:t>
              </a:r>
            </a:p>
            <a:p>
              <a:pPr algn="ctr"/>
              <a:r>
                <a:rPr lang="en-US" sz="1150" dirty="0"/>
                <a:t>Component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4E800C-04B9-3842-55D4-8FEAC011C4F8}"/>
              </a:ext>
            </a:extLst>
          </p:cNvPr>
          <p:cNvGrpSpPr/>
          <p:nvPr/>
        </p:nvGrpSpPr>
        <p:grpSpPr>
          <a:xfrm>
            <a:off x="4407979" y="515896"/>
            <a:ext cx="813816" cy="746995"/>
            <a:chOff x="4258978" y="1142514"/>
            <a:chExt cx="813816" cy="746995"/>
          </a:xfrm>
        </p:grpSpPr>
        <p:pic>
          <p:nvPicPr>
            <p:cNvPr id="107" name="Graphic 106" descr="User with solid fill">
              <a:extLst>
                <a:ext uri="{FF2B5EF4-FFF2-40B4-BE49-F238E27FC236}">
                  <a16:creationId xmlns:a16="http://schemas.microsoft.com/office/drawing/2014/main" id="{6351067B-B52C-3E41-2A9B-AA74D0E4F3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83091" y="1142514"/>
              <a:ext cx="565591" cy="54112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852E888-0304-0CE2-01D4-10D82FE8DC42}"/>
                </a:ext>
              </a:extLst>
            </p:cNvPr>
            <p:cNvSpPr txBox="1"/>
            <p:nvPr/>
          </p:nvSpPr>
          <p:spPr>
            <a:xfrm>
              <a:off x="4258978" y="1613564"/>
              <a:ext cx="813816" cy="2759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/>
                <a:t>RC</a:t>
              </a:r>
              <a:endParaRPr lang="en-US" sz="1600" dirty="0"/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B1877EB-92E0-E469-AF31-85106C8BE33E}"/>
              </a:ext>
            </a:extLst>
          </p:cNvPr>
          <p:cNvCxnSpPr>
            <a:cxnSpLocks/>
          </p:cNvCxnSpPr>
          <p:nvPr/>
        </p:nvCxnSpPr>
        <p:spPr>
          <a:xfrm>
            <a:off x="4144506" y="1337598"/>
            <a:ext cx="1180878" cy="2552"/>
          </a:xfrm>
          <a:prstGeom prst="straightConnector1">
            <a:avLst/>
          </a:prstGeom>
          <a:ln cap="flat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AD71D86-2920-24CE-A0BD-1BB2179902D8}"/>
              </a:ext>
            </a:extLst>
          </p:cNvPr>
          <p:cNvCxnSpPr>
            <a:cxnSpLocks/>
          </p:cNvCxnSpPr>
          <p:nvPr/>
        </p:nvCxnSpPr>
        <p:spPr>
          <a:xfrm flipV="1">
            <a:off x="3448512" y="1877735"/>
            <a:ext cx="661691" cy="176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EA9CAA8-896B-6808-4EF6-21E72314DEAC}"/>
              </a:ext>
            </a:extLst>
          </p:cNvPr>
          <p:cNvCxnSpPr>
            <a:cxnSpLocks/>
          </p:cNvCxnSpPr>
          <p:nvPr/>
        </p:nvCxnSpPr>
        <p:spPr>
          <a:xfrm>
            <a:off x="4129116" y="2006048"/>
            <a:ext cx="121425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1D95123-DB51-ED17-230E-C0EC2C24B318}"/>
              </a:ext>
            </a:extLst>
          </p:cNvPr>
          <p:cNvCxnSpPr>
            <a:cxnSpLocks/>
          </p:cNvCxnSpPr>
          <p:nvPr/>
        </p:nvCxnSpPr>
        <p:spPr>
          <a:xfrm flipH="1">
            <a:off x="3481906" y="2158700"/>
            <a:ext cx="1824788" cy="9646"/>
          </a:xfrm>
          <a:prstGeom prst="straightConnector1">
            <a:avLst/>
          </a:prstGeom>
          <a:ln cmpd="tri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Picture 118" descr="Shape&#10;&#10;Description automatically generated with low confidence">
            <a:extLst>
              <a:ext uri="{FF2B5EF4-FFF2-40B4-BE49-F238E27FC236}">
                <a16:creationId xmlns:a16="http://schemas.microsoft.com/office/drawing/2014/main" id="{41275C8D-DED8-01E3-E812-E8DDF89657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2217" y="453363"/>
            <a:ext cx="729883" cy="679334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282C70C8-78BD-9FC4-1F93-84FD18E53950}"/>
              </a:ext>
            </a:extLst>
          </p:cNvPr>
          <p:cNvSpPr txBox="1"/>
          <p:nvPr/>
        </p:nvSpPr>
        <p:spPr>
          <a:xfrm>
            <a:off x="3719987" y="980439"/>
            <a:ext cx="764388" cy="275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Bidders</a:t>
            </a:r>
            <a:endParaRPr lang="en-US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4B77E18-0674-E571-BDC4-41FBD8BA2270}"/>
              </a:ext>
            </a:extLst>
          </p:cNvPr>
          <p:cNvCxnSpPr>
            <a:cxnSpLocks/>
          </p:cNvCxnSpPr>
          <p:nvPr/>
        </p:nvCxnSpPr>
        <p:spPr>
          <a:xfrm>
            <a:off x="4935540" y="967517"/>
            <a:ext cx="445618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5AA14034-1DCC-F49F-4574-660CE519C001}"/>
              </a:ext>
            </a:extLst>
          </p:cNvPr>
          <p:cNvSpPr txBox="1"/>
          <p:nvPr/>
        </p:nvSpPr>
        <p:spPr>
          <a:xfrm>
            <a:off x="5069211" y="73041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F3DBB4E-2194-9E85-C256-13BF3E18BDCD}"/>
              </a:ext>
            </a:extLst>
          </p:cNvPr>
          <p:cNvSpPr txBox="1"/>
          <p:nvPr/>
        </p:nvSpPr>
        <p:spPr>
          <a:xfrm>
            <a:off x="4290314" y="113208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2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DDE14A4-AEB2-0385-89DB-CEDACECED7B7}"/>
              </a:ext>
            </a:extLst>
          </p:cNvPr>
          <p:cNvSpPr txBox="1"/>
          <p:nvPr/>
        </p:nvSpPr>
        <p:spPr>
          <a:xfrm>
            <a:off x="3775830" y="134234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E7385E7-FBF1-79EC-48EE-F68728030BD9}"/>
              </a:ext>
            </a:extLst>
          </p:cNvPr>
          <p:cNvSpPr txBox="1"/>
          <p:nvPr/>
        </p:nvSpPr>
        <p:spPr>
          <a:xfrm>
            <a:off x="3770459" y="1650364"/>
            <a:ext cx="25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1F61DE3-8C5B-F86D-0B91-1218F96CA696}"/>
              </a:ext>
            </a:extLst>
          </p:cNvPr>
          <p:cNvSpPr txBox="1"/>
          <p:nvPr/>
        </p:nvSpPr>
        <p:spPr>
          <a:xfrm>
            <a:off x="4935540" y="1778295"/>
            <a:ext cx="25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</a:p>
        </p:txBody>
      </p:sp>
      <p:sp>
        <p:nvSpPr>
          <p:cNvPr id="162" name="Arc 161">
            <a:extLst>
              <a:ext uri="{FF2B5EF4-FFF2-40B4-BE49-F238E27FC236}">
                <a16:creationId xmlns:a16="http://schemas.microsoft.com/office/drawing/2014/main" id="{4BEE3C15-73BC-564A-6C81-9CDF165C9797}"/>
              </a:ext>
            </a:extLst>
          </p:cNvPr>
          <p:cNvSpPr/>
          <p:nvPr/>
        </p:nvSpPr>
        <p:spPr>
          <a:xfrm rot="12718695">
            <a:off x="2053559" y="2054742"/>
            <a:ext cx="937647" cy="1228891"/>
          </a:xfrm>
          <a:prstGeom prst="arc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634563E7-9EAC-2302-DC9A-B291B1720DB4}"/>
              </a:ext>
            </a:extLst>
          </p:cNvPr>
          <p:cNvSpPr/>
          <p:nvPr/>
        </p:nvSpPr>
        <p:spPr>
          <a:xfrm rot="8775013" flipH="1">
            <a:off x="2504081" y="2104407"/>
            <a:ext cx="807604" cy="1216968"/>
          </a:xfrm>
          <a:custGeom>
            <a:avLst/>
            <a:gdLst>
              <a:gd name="csX0" fmla="*/ 403802 w 807604"/>
              <a:gd name="csY0" fmla="*/ 0 h 1216968"/>
              <a:gd name="csX1" fmla="*/ 807604 w 807604"/>
              <a:gd name="csY1" fmla="*/ 608484 h 1216968"/>
              <a:gd name="csX2" fmla="*/ 403802 w 807604"/>
              <a:gd name="csY2" fmla="*/ 608484 h 1216968"/>
              <a:gd name="csX3" fmla="*/ 403802 w 807604"/>
              <a:gd name="csY3" fmla="*/ 0 h 1216968"/>
              <a:gd name="csX0" fmla="*/ 403802 w 807604"/>
              <a:gd name="csY0" fmla="*/ 0 h 1216968"/>
              <a:gd name="csX1" fmla="*/ 807604 w 807604"/>
              <a:gd name="csY1" fmla="*/ 608484 h 121696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07604" h="1216968" stroke="0" extrusionOk="0">
                <a:moveTo>
                  <a:pt x="403802" y="0"/>
                </a:moveTo>
                <a:cubicBezTo>
                  <a:pt x="596520" y="-18687"/>
                  <a:pt x="758332" y="290920"/>
                  <a:pt x="807604" y="608484"/>
                </a:cubicBezTo>
                <a:cubicBezTo>
                  <a:pt x="718307" y="622825"/>
                  <a:pt x="485355" y="604869"/>
                  <a:pt x="403802" y="608484"/>
                </a:cubicBezTo>
                <a:cubicBezTo>
                  <a:pt x="422683" y="338048"/>
                  <a:pt x="414721" y="164558"/>
                  <a:pt x="403802" y="0"/>
                </a:cubicBezTo>
                <a:close/>
              </a:path>
              <a:path w="807604" h="1216968" fill="none" extrusionOk="0">
                <a:moveTo>
                  <a:pt x="403802" y="0"/>
                </a:moveTo>
                <a:cubicBezTo>
                  <a:pt x="637930" y="-22872"/>
                  <a:pt x="777201" y="267772"/>
                  <a:pt x="807604" y="608484"/>
                </a:cubicBezTo>
              </a:path>
              <a:path w="807604" h="1216968" fill="none" stroke="0" extrusionOk="0">
                <a:moveTo>
                  <a:pt x="403802" y="0"/>
                </a:moveTo>
                <a:cubicBezTo>
                  <a:pt x="669916" y="20594"/>
                  <a:pt x="886115" y="281742"/>
                  <a:pt x="807604" y="608484"/>
                </a:cubicBezTo>
              </a:path>
            </a:pathLst>
          </a:custGeom>
          <a:ln cap="rnd">
            <a:solidFill>
              <a:schemeClr val="tx1"/>
            </a:solidFill>
            <a:bevel/>
            <a:headEnd type="none"/>
            <a:tailEnd type="triangle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481E5F9-8033-50A5-D05F-941FA410C753}"/>
              </a:ext>
            </a:extLst>
          </p:cNvPr>
          <p:cNvSpPr txBox="1"/>
          <p:nvPr/>
        </p:nvSpPr>
        <p:spPr>
          <a:xfrm>
            <a:off x="3781936" y="1937320"/>
            <a:ext cx="25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878597E0-11DB-61A2-CB36-9891ABC8CF6D}"/>
              </a:ext>
            </a:extLst>
          </p:cNvPr>
          <p:cNvCxnSpPr>
            <a:cxnSpLocks/>
          </p:cNvCxnSpPr>
          <p:nvPr/>
        </p:nvCxnSpPr>
        <p:spPr>
          <a:xfrm>
            <a:off x="3498722" y="2418681"/>
            <a:ext cx="18446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AD61F628-A390-E91B-29B3-23068FFEAE3C}"/>
              </a:ext>
            </a:extLst>
          </p:cNvPr>
          <p:cNvSpPr txBox="1"/>
          <p:nvPr/>
        </p:nvSpPr>
        <p:spPr>
          <a:xfrm>
            <a:off x="4936779" y="2166296"/>
            <a:ext cx="25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A0AB141-E885-89BE-8EDB-04A531CFD876}"/>
              </a:ext>
            </a:extLst>
          </p:cNvPr>
          <p:cNvGrpSpPr/>
          <p:nvPr/>
        </p:nvGrpSpPr>
        <p:grpSpPr>
          <a:xfrm>
            <a:off x="4129116" y="1228566"/>
            <a:ext cx="783953" cy="1875459"/>
            <a:chOff x="3848143" y="1291414"/>
            <a:chExt cx="783953" cy="1875459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4F5697C3-CFA7-7E82-1770-1CB986CC790E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43" y="1313567"/>
              <a:ext cx="15390" cy="1836718"/>
            </a:xfrm>
            <a:prstGeom prst="straightConnector1">
              <a:avLst/>
            </a:prstGeom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AE730E7-2FE0-4265-4EDA-15CA1AC38FEA}"/>
                </a:ext>
              </a:extLst>
            </p:cNvPr>
            <p:cNvCxnSpPr>
              <a:cxnSpLocks/>
            </p:cNvCxnSpPr>
            <p:nvPr/>
          </p:nvCxnSpPr>
          <p:spPr>
            <a:xfrm>
              <a:off x="4621322" y="1291414"/>
              <a:ext cx="0" cy="1875459"/>
            </a:xfrm>
            <a:prstGeom prst="straightConnector1">
              <a:avLst/>
            </a:prstGeom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3894E247-F22F-7FD5-B63A-D4D5B92224FF}"/>
                </a:ext>
              </a:extLst>
            </p:cNvPr>
            <p:cNvCxnSpPr>
              <a:cxnSpLocks/>
            </p:cNvCxnSpPr>
            <p:nvPr/>
          </p:nvCxnSpPr>
          <p:spPr>
            <a:xfrm>
              <a:off x="3875629" y="3135104"/>
              <a:ext cx="756467" cy="0"/>
            </a:xfrm>
            <a:prstGeom prst="straightConnector1">
              <a:avLst/>
            </a:prstGeom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178" name="Picture 177" descr="Shape&#10;&#10;Description automatically generated with low confidence">
            <a:extLst>
              <a:ext uri="{FF2B5EF4-FFF2-40B4-BE49-F238E27FC236}">
                <a16:creationId xmlns:a16="http://schemas.microsoft.com/office/drawing/2014/main" id="{51EB3AFA-3FAD-A392-0B9C-2E96506439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494398" y="1398083"/>
            <a:ext cx="442277" cy="442277"/>
          </a:xfrm>
          <a:prstGeom prst="rect">
            <a:avLst/>
          </a:prstGeom>
        </p:spPr>
      </p:pic>
      <p:pic>
        <p:nvPicPr>
          <p:cNvPr id="179" name="Graphic 178" descr="Link with solid fill">
            <a:extLst>
              <a:ext uri="{FF2B5EF4-FFF2-40B4-BE49-F238E27FC236}">
                <a16:creationId xmlns:a16="http://schemas.microsoft.com/office/drawing/2014/main" id="{763A8A66-CFB2-8872-CBE0-5EF1F6106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680002">
            <a:off x="5539553" y="1840192"/>
            <a:ext cx="351616" cy="351616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41B45160-415C-F414-F74B-21EE15FA3CEB}"/>
              </a:ext>
            </a:extLst>
          </p:cNvPr>
          <p:cNvSpPr txBox="1"/>
          <p:nvPr/>
        </p:nvSpPr>
        <p:spPr>
          <a:xfrm>
            <a:off x="5343460" y="1680261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i+1</a:t>
            </a:r>
            <a:endParaRPr lang="en-US" i="1" dirty="0"/>
          </a:p>
        </p:txBody>
      </p:sp>
      <p:pic>
        <p:nvPicPr>
          <p:cNvPr id="181" name="Picture 180" descr="Shape&#10;&#10;Description automatically generated with low confidence">
            <a:extLst>
              <a:ext uri="{FF2B5EF4-FFF2-40B4-BE49-F238E27FC236}">
                <a16:creationId xmlns:a16="http://schemas.microsoft.com/office/drawing/2014/main" id="{7E4FE4EA-163C-AEB9-C5D6-087FAEF8277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03358" y="2192970"/>
            <a:ext cx="442277" cy="442277"/>
          </a:xfrm>
          <a:prstGeom prst="rect">
            <a:avLst/>
          </a:prstGeom>
        </p:spPr>
      </p:pic>
      <p:pic>
        <p:nvPicPr>
          <p:cNvPr id="182" name="Graphic 181" descr="Link with solid fill">
            <a:extLst>
              <a:ext uri="{FF2B5EF4-FFF2-40B4-BE49-F238E27FC236}">
                <a16:creationId xmlns:a16="http://schemas.microsoft.com/office/drawing/2014/main" id="{5FEF923A-6272-457C-32EE-E6DAEA8856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680002">
            <a:off x="5548687" y="2636410"/>
            <a:ext cx="351616" cy="351616"/>
          </a:xfrm>
          <a:prstGeom prst="rect">
            <a:avLst/>
          </a:prstGeom>
        </p:spPr>
      </p:pic>
      <p:sp>
        <p:nvSpPr>
          <p:cNvPr id="183" name="TextBox 182">
            <a:extLst>
              <a:ext uri="{FF2B5EF4-FFF2-40B4-BE49-F238E27FC236}">
                <a16:creationId xmlns:a16="http://schemas.microsoft.com/office/drawing/2014/main" id="{16531DF5-0759-D695-817F-0E43691CDEF5}"/>
              </a:ext>
            </a:extLst>
          </p:cNvPr>
          <p:cNvSpPr txBox="1"/>
          <p:nvPr/>
        </p:nvSpPr>
        <p:spPr>
          <a:xfrm>
            <a:off x="5343373" y="2460201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i+2</a:t>
            </a:r>
            <a:endParaRPr lang="en-US" i="1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613AB44D-7A3A-732A-F77B-D464D7AEAA0C}"/>
              </a:ext>
            </a:extLst>
          </p:cNvPr>
          <p:cNvSpPr txBox="1"/>
          <p:nvPr/>
        </p:nvSpPr>
        <p:spPr>
          <a:xfrm>
            <a:off x="2053778" y="216263"/>
            <a:ext cx="1280445" cy="36933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Manager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4918C55B-34BD-E42F-0EBB-B55067A2DA89}"/>
              </a:ext>
            </a:extLst>
          </p:cNvPr>
          <p:cNvSpPr txBox="1"/>
          <p:nvPr/>
        </p:nvSpPr>
        <p:spPr>
          <a:xfrm>
            <a:off x="1958094" y="2681413"/>
            <a:ext cx="3809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6.1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CA7E4DC2-4B0E-F3CD-E1B2-DC3FE6E033FA}"/>
              </a:ext>
            </a:extLst>
          </p:cNvPr>
          <p:cNvSpPr txBox="1"/>
          <p:nvPr/>
        </p:nvSpPr>
        <p:spPr>
          <a:xfrm>
            <a:off x="3136222" y="2708533"/>
            <a:ext cx="3809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6.2</a:t>
            </a:r>
          </a:p>
        </p:txBody>
      </p:sp>
    </p:spTree>
    <p:extLst>
      <p:ext uri="{BB962C8B-B14F-4D97-AF65-F5344CB8AC3E}">
        <p14:creationId xmlns:p14="http://schemas.microsoft.com/office/powerpoint/2010/main" val="116720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4823164-A46E-52BD-D083-A4EB8F7E6FA0}"/>
              </a:ext>
            </a:extLst>
          </p:cNvPr>
          <p:cNvGrpSpPr/>
          <p:nvPr/>
        </p:nvGrpSpPr>
        <p:grpSpPr>
          <a:xfrm>
            <a:off x="3767145" y="3009656"/>
            <a:ext cx="1280445" cy="507831"/>
            <a:chOff x="3785958" y="3104847"/>
            <a:chExt cx="1280445" cy="50783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333EB6D-E776-B846-3CD1-281C0FCEF1E3}"/>
                </a:ext>
              </a:extLst>
            </p:cNvPr>
            <p:cNvGrpSpPr/>
            <p:nvPr/>
          </p:nvGrpSpPr>
          <p:grpSpPr>
            <a:xfrm>
              <a:off x="3785958" y="3104847"/>
              <a:ext cx="1280445" cy="507831"/>
              <a:chOff x="3840728" y="3028951"/>
              <a:chExt cx="1280445" cy="507831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32E8ADA-13E2-A35B-EB3F-50A3856ABFAC}"/>
                  </a:ext>
                </a:extLst>
              </p:cNvPr>
              <p:cNvSpPr txBox="1"/>
              <p:nvPr/>
            </p:nvSpPr>
            <p:spPr>
              <a:xfrm>
                <a:off x="3840728" y="3028951"/>
                <a:ext cx="1280445" cy="50783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900" dirty="0"/>
                  <a:t>RC</a:t>
                </a:r>
              </a:p>
              <a:p>
                <a:pPr lvl="1"/>
                <a:r>
                  <a:rPr lang="en-US" sz="900" dirty="0"/>
                  <a:t>BIDDER</a:t>
                </a:r>
              </a:p>
              <a:p>
                <a:pPr lvl="1"/>
                <a:r>
                  <a:rPr lang="en-US" sz="900" dirty="0"/>
                  <a:t>MANAGER</a:t>
                </a:r>
              </a:p>
            </p:txBody>
          </p: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388537F4-8341-B9F5-C6D4-3CC580174C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7903" y="3282866"/>
                <a:ext cx="39320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87DA3C5-090B-C913-983A-36951BE03D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6959" y="3133516"/>
                <a:ext cx="38677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32EED958-2446-84AC-AB94-7CE9A3D47276}"/>
                </a:ext>
              </a:extLst>
            </p:cNvPr>
            <p:cNvCxnSpPr>
              <a:cxnSpLocks/>
            </p:cNvCxnSpPr>
            <p:nvPr/>
          </p:nvCxnSpPr>
          <p:spPr>
            <a:xfrm>
              <a:off x="3888277" y="3507820"/>
              <a:ext cx="403268" cy="0"/>
            </a:xfrm>
            <a:prstGeom prst="straightConnector1">
              <a:avLst/>
            </a:prstGeom>
            <a:ln w="25400" cmpd="tri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1F43521-43AD-3ADB-298F-7FC29CF7A497}"/>
              </a:ext>
            </a:extLst>
          </p:cNvPr>
          <p:cNvSpPr/>
          <p:nvPr/>
        </p:nvSpPr>
        <p:spPr>
          <a:xfrm>
            <a:off x="2320631" y="598393"/>
            <a:ext cx="1160896" cy="2939897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  <a:effectLst>
            <a:softEdge rad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DAAC8F3-0C3C-FDC3-1E34-EDC6B85F342F}"/>
              </a:ext>
            </a:extLst>
          </p:cNvPr>
          <p:cNvCxnSpPr>
            <a:cxnSpLocks/>
          </p:cNvCxnSpPr>
          <p:nvPr/>
        </p:nvCxnSpPr>
        <p:spPr>
          <a:xfrm flipH="1" flipV="1">
            <a:off x="3509269" y="1582012"/>
            <a:ext cx="1750376" cy="331"/>
          </a:xfrm>
          <a:prstGeom prst="straightConnector1">
            <a:avLst/>
          </a:prstGeom>
          <a:ln w="25400" cmpd="tri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733B098-6925-5F7F-74AB-C3A39C50A2FD}"/>
              </a:ext>
            </a:extLst>
          </p:cNvPr>
          <p:cNvSpPr/>
          <p:nvPr/>
        </p:nvSpPr>
        <p:spPr>
          <a:xfrm>
            <a:off x="5382848" y="589336"/>
            <a:ext cx="609420" cy="2924616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  <a:effectLst>
            <a:softEdge rad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7AC08583-8AD5-2D03-7EEB-8BA761F739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24266" y="648698"/>
            <a:ext cx="348025" cy="348025"/>
          </a:xfrm>
          <a:prstGeom prst="rect">
            <a:avLst/>
          </a:prstGeom>
        </p:spPr>
      </p:pic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052FEACA-3C39-0210-66C0-7A0C13AB0E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680002">
            <a:off x="5569543" y="1003929"/>
            <a:ext cx="261158" cy="26115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ED70A05-9B70-EED5-18E0-FC4AF682F3FB}"/>
              </a:ext>
            </a:extLst>
          </p:cNvPr>
          <p:cNvSpPr txBox="1"/>
          <p:nvPr/>
        </p:nvSpPr>
        <p:spPr>
          <a:xfrm>
            <a:off x="5571552" y="3028952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58E031-D00A-1EAD-A4C9-07B4C988A3C6}"/>
              </a:ext>
            </a:extLst>
          </p:cNvPr>
          <p:cNvSpPr txBox="1"/>
          <p:nvPr/>
        </p:nvSpPr>
        <p:spPr>
          <a:xfrm>
            <a:off x="5104542" y="285447"/>
            <a:ext cx="1179057" cy="30777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Blockchain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8BF5CD-24C4-EFE9-62DE-D22106C230BB}"/>
              </a:ext>
            </a:extLst>
          </p:cNvPr>
          <p:cNvSpPr txBox="1"/>
          <p:nvPr/>
        </p:nvSpPr>
        <p:spPr>
          <a:xfrm>
            <a:off x="5328539" y="852031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</a:t>
            </a:r>
            <a:endParaRPr lang="en-US" i="1" dirty="0"/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EFCC0B0-C25C-B895-1040-6A17E6CC0E3F}"/>
              </a:ext>
            </a:extLst>
          </p:cNvPr>
          <p:cNvGrpSpPr/>
          <p:nvPr/>
        </p:nvGrpSpPr>
        <p:grpSpPr>
          <a:xfrm>
            <a:off x="2396579" y="2911004"/>
            <a:ext cx="986416" cy="596816"/>
            <a:chOff x="2160423" y="1369885"/>
            <a:chExt cx="986416" cy="650924"/>
          </a:xfrm>
          <a:noFill/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8291657-9BE5-DA98-354C-5B284296BE52}"/>
                </a:ext>
              </a:extLst>
            </p:cNvPr>
            <p:cNvSpPr/>
            <p:nvPr/>
          </p:nvSpPr>
          <p:spPr>
            <a:xfrm>
              <a:off x="2160423" y="1369885"/>
              <a:ext cx="986416" cy="650924"/>
            </a:xfrm>
            <a:prstGeom prst="rect">
              <a:avLst/>
            </a:pr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568A2F9-2CC7-C04E-C4C7-2B1131035329}"/>
                </a:ext>
              </a:extLst>
            </p:cNvPr>
            <p:cNvSpPr txBox="1"/>
            <p:nvPr/>
          </p:nvSpPr>
          <p:spPr>
            <a:xfrm>
              <a:off x="2204889" y="1373450"/>
              <a:ext cx="921117" cy="30211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/>
                <a:t>Enclave (E)</a:t>
              </a:r>
              <a:endParaRPr lang="en-US" sz="1600" dirty="0"/>
            </a:p>
          </p:txBody>
        </p:sp>
        <p:pic>
          <p:nvPicPr>
            <p:cNvPr id="49" name="Picture 48" descr="Icon&#10;&#10;Description automatically generated">
              <a:extLst>
                <a:ext uri="{FF2B5EF4-FFF2-40B4-BE49-F238E27FC236}">
                  <a16:creationId xmlns:a16="http://schemas.microsoft.com/office/drawing/2014/main" id="{BD903FA5-B120-CEC2-B87E-DD5E3D878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487013" y="1670411"/>
              <a:ext cx="279477" cy="279476"/>
            </a:xfrm>
            <a:prstGeom prst="rect">
              <a:avLst/>
            </a:prstGeom>
            <a:grpFill/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A81497F-55DF-6EFD-E45D-AAA8A81312E7}"/>
              </a:ext>
            </a:extLst>
          </p:cNvPr>
          <p:cNvGrpSpPr/>
          <p:nvPr/>
        </p:nvGrpSpPr>
        <p:grpSpPr>
          <a:xfrm>
            <a:off x="2381890" y="650952"/>
            <a:ext cx="1015794" cy="1900178"/>
            <a:chOff x="2187000" y="-546726"/>
            <a:chExt cx="1015794" cy="100219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7D1E58-6023-3EFA-7DC1-713DE5AE618F}"/>
                </a:ext>
              </a:extLst>
            </p:cNvPr>
            <p:cNvSpPr/>
            <p:nvPr/>
          </p:nvSpPr>
          <p:spPr>
            <a:xfrm>
              <a:off x="2187000" y="-546726"/>
              <a:ext cx="1015794" cy="100219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384AF61-1EAE-A984-6CAE-9AAE9DDF7BAB}"/>
                </a:ext>
              </a:extLst>
            </p:cNvPr>
            <p:cNvSpPr txBox="1"/>
            <p:nvPr/>
          </p:nvSpPr>
          <p:spPr>
            <a:xfrm>
              <a:off x="2238524" y="-217731"/>
              <a:ext cx="887327" cy="2316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50" dirty="0"/>
                <a:t>Untrusted</a:t>
              </a:r>
            </a:p>
            <a:p>
              <a:pPr algn="ctr"/>
              <a:r>
                <a:rPr lang="en-US" sz="1150" dirty="0"/>
                <a:t>Component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4E800C-04B9-3842-55D4-8FEAC011C4F8}"/>
              </a:ext>
            </a:extLst>
          </p:cNvPr>
          <p:cNvGrpSpPr/>
          <p:nvPr/>
        </p:nvGrpSpPr>
        <p:grpSpPr>
          <a:xfrm>
            <a:off x="4369425" y="480717"/>
            <a:ext cx="813816" cy="714877"/>
            <a:chOff x="4251704" y="1142514"/>
            <a:chExt cx="813816" cy="714877"/>
          </a:xfrm>
        </p:grpSpPr>
        <p:pic>
          <p:nvPicPr>
            <p:cNvPr id="107" name="Graphic 106" descr="User with solid fill">
              <a:extLst>
                <a:ext uri="{FF2B5EF4-FFF2-40B4-BE49-F238E27FC236}">
                  <a16:creationId xmlns:a16="http://schemas.microsoft.com/office/drawing/2014/main" id="{6351067B-B52C-3E41-2A9B-AA74D0E4F3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83091" y="1142514"/>
              <a:ext cx="565591" cy="54112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852E888-0304-0CE2-01D4-10D82FE8DC42}"/>
                </a:ext>
              </a:extLst>
            </p:cNvPr>
            <p:cNvSpPr txBox="1"/>
            <p:nvPr/>
          </p:nvSpPr>
          <p:spPr>
            <a:xfrm>
              <a:off x="4251704" y="1581446"/>
              <a:ext cx="813816" cy="2759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/>
                <a:t>RC</a:t>
              </a:r>
              <a:endParaRPr lang="en-US" sz="1600" dirty="0"/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B1877EB-92E0-E469-AF31-85106C8BE33E}"/>
              </a:ext>
            </a:extLst>
          </p:cNvPr>
          <p:cNvCxnSpPr>
            <a:cxnSpLocks/>
          </p:cNvCxnSpPr>
          <p:nvPr/>
        </p:nvCxnSpPr>
        <p:spPr>
          <a:xfrm>
            <a:off x="4097053" y="1319708"/>
            <a:ext cx="1180878" cy="2552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EA9CAA8-896B-6808-4EF6-21E72314DEAC}"/>
              </a:ext>
            </a:extLst>
          </p:cNvPr>
          <p:cNvCxnSpPr>
            <a:cxnSpLocks/>
          </p:cNvCxnSpPr>
          <p:nvPr/>
        </p:nvCxnSpPr>
        <p:spPr>
          <a:xfrm>
            <a:off x="4097053" y="2070849"/>
            <a:ext cx="121425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1D95123-DB51-ED17-230E-C0EC2C24B318}"/>
              </a:ext>
            </a:extLst>
          </p:cNvPr>
          <p:cNvCxnSpPr>
            <a:cxnSpLocks/>
          </p:cNvCxnSpPr>
          <p:nvPr/>
        </p:nvCxnSpPr>
        <p:spPr>
          <a:xfrm flipH="1" flipV="1">
            <a:off x="3518739" y="2255744"/>
            <a:ext cx="1730714" cy="2119"/>
          </a:xfrm>
          <a:prstGeom prst="straightConnector1">
            <a:avLst/>
          </a:prstGeom>
          <a:ln w="25400" cmpd="tri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Picture 118" descr="Shape&#10;&#10;Description automatically generated with low confidence">
            <a:extLst>
              <a:ext uri="{FF2B5EF4-FFF2-40B4-BE49-F238E27FC236}">
                <a16:creationId xmlns:a16="http://schemas.microsoft.com/office/drawing/2014/main" id="{41275C8D-DED8-01E3-E812-E8DDF89657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5000" contras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23964" y="443067"/>
            <a:ext cx="663329" cy="617389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282C70C8-78BD-9FC4-1F93-84FD18E53950}"/>
              </a:ext>
            </a:extLst>
          </p:cNvPr>
          <p:cNvSpPr txBox="1"/>
          <p:nvPr/>
        </p:nvSpPr>
        <p:spPr>
          <a:xfrm>
            <a:off x="3699469" y="919135"/>
            <a:ext cx="764388" cy="275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Bidders</a:t>
            </a:r>
            <a:endParaRPr lang="en-US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4B77E18-0674-E571-BDC4-41FBD8BA2270}"/>
              </a:ext>
            </a:extLst>
          </p:cNvPr>
          <p:cNvCxnSpPr>
            <a:cxnSpLocks/>
          </p:cNvCxnSpPr>
          <p:nvPr/>
        </p:nvCxnSpPr>
        <p:spPr>
          <a:xfrm>
            <a:off x="5032754" y="960732"/>
            <a:ext cx="321462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5AA14034-1DCC-F49F-4574-660CE519C001}"/>
              </a:ext>
            </a:extLst>
          </p:cNvPr>
          <p:cNvSpPr txBox="1"/>
          <p:nvPr/>
        </p:nvSpPr>
        <p:spPr>
          <a:xfrm>
            <a:off x="5080941" y="745381"/>
            <a:ext cx="2919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1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F3DBB4E-2194-9E85-C256-13BF3E18BDCD}"/>
              </a:ext>
            </a:extLst>
          </p:cNvPr>
          <p:cNvSpPr txBox="1"/>
          <p:nvPr/>
        </p:nvSpPr>
        <p:spPr>
          <a:xfrm>
            <a:off x="4812499" y="111565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2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DDE14A4-AEB2-0385-89DB-CEDACECED7B7}"/>
              </a:ext>
            </a:extLst>
          </p:cNvPr>
          <p:cNvSpPr txBox="1"/>
          <p:nvPr/>
        </p:nvSpPr>
        <p:spPr>
          <a:xfrm>
            <a:off x="3572490" y="1356863"/>
            <a:ext cx="250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3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E7385E7-FBF1-79EC-48EE-F68728030BD9}"/>
              </a:ext>
            </a:extLst>
          </p:cNvPr>
          <p:cNvSpPr txBox="1"/>
          <p:nvPr/>
        </p:nvSpPr>
        <p:spPr>
          <a:xfrm>
            <a:off x="3716708" y="1728473"/>
            <a:ext cx="25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4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1F61DE3-8C5B-F86D-0B91-1218F96CA696}"/>
              </a:ext>
            </a:extLst>
          </p:cNvPr>
          <p:cNvSpPr txBox="1"/>
          <p:nvPr/>
        </p:nvSpPr>
        <p:spPr>
          <a:xfrm>
            <a:off x="4055625" y="1868965"/>
            <a:ext cx="25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5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481E5F9-8033-50A5-D05F-941FA410C753}"/>
              </a:ext>
            </a:extLst>
          </p:cNvPr>
          <p:cNvSpPr txBox="1"/>
          <p:nvPr/>
        </p:nvSpPr>
        <p:spPr>
          <a:xfrm>
            <a:off x="4527110" y="2043052"/>
            <a:ext cx="25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6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878597E0-11DB-61A2-CB36-9891ABC8CF6D}"/>
              </a:ext>
            </a:extLst>
          </p:cNvPr>
          <p:cNvCxnSpPr>
            <a:cxnSpLocks/>
          </p:cNvCxnSpPr>
          <p:nvPr/>
        </p:nvCxnSpPr>
        <p:spPr>
          <a:xfrm>
            <a:off x="3534153" y="2520582"/>
            <a:ext cx="1746430" cy="4584"/>
          </a:xfrm>
          <a:prstGeom prst="straightConnector1">
            <a:avLst/>
          </a:prstGeom>
          <a:ln w="25400" cmpd="tri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AD61F628-A390-E91B-29B3-23068FFEAE3C}"/>
              </a:ext>
            </a:extLst>
          </p:cNvPr>
          <p:cNvSpPr txBox="1"/>
          <p:nvPr/>
        </p:nvSpPr>
        <p:spPr>
          <a:xfrm>
            <a:off x="4912973" y="2305142"/>
            <a:ext cx="25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8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A0AB141-E885-89BE-8EDB-04A531CFD876}"/>
              </a:ext>
            </a:extLst>
          </p:cNvPr>
          <p:cNvGrpSpPr/>
          <p:nvPr/>
        </p:nvGrpSpPr>
        <p:grpSpPr>
          <a:xfrm>
            <a:off x="4032881" y="1129030"/>
            <a:ext cx="767123" cy="1830183"/>
            <a:chOff x="3848143" y="1275818"/>
            <a:chExt cx="767123" cy="1874975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4F5697C3-CFA7-7E82-1770-1CB986CC790E}"/>
                </a:ext>
              </a:extLst>
            </p:cNvPr>
            <p:cNvCxnSpPr>
              <a:cxnSpLocks/>
              <a:stCxn id="120" idx="2"/>
            </p:cNvCxnSpPr>
            <p:nvPr/>
          </p:nvCxnSpPr>
          <p:spPr>
            <a:xfrm>
              <a:off x="3848143" y="1275818"/>
              <a:ext cx="15390" cy="1874467"/>
            </a:xfrm>
            <a:prstGeom prst="straightConnector1">
              <a:avLst/>
            </a:prstGeom>
            <a:ln w="9525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AE730E7-2FE0-4265-4EDA-15CA1AC38FEA}"/>
                </a:ext>
              </a:extLst>
            </p:cNvPr>
            <p:cNvCxnSpPr>
              <a:cxnSpLocks/>
            </p:cNvCxnSpPr>
            <p:nvPr/>
          </p:nvCxnSpPr>
          <p:spPr>
            <a:xfrm>
              <a:off x="4611031" y="1290344"/>
              <a:ext cx="4235" cy="1860449"/>
            </a:xfrm>
            <a:prstGeom prst="straightConnector1">
              <a:avLst/>
            </a:prstGeom>
            <a:ln w="9525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613AB44D-7A3A-732A-F77B-D464D7AEAA0C}"/>
              </a:ext>
            </a:extLst>
          </p:cNvPr>
          <p:cNvSpPr txBox="1"/>
          <p:nvPr/>
        </p:nvSpPr>
        <p:spPr>
          <a:xfrm>
            <a:off x="2260856" y="291078"/>
            <a:ext cx="1280445" cy="30777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Manager (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M</a:t>
            </a:r>
            <a:r>
              <a:rPr lang="en-US" sz="1400" dirty="0"/>
              <a:t>)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4918C55B-34BD-E42F-0EBB-B55067A2DA89}"/>
              </a:ext>
            </a:extLst>
          </p:cNvPr>
          <p:cNvSpPr txBox="1"/>
          <p:nvPr/>
        </p:nvSpPr>
        <p:spPr>
          <a:xfrm>
            <a:off x="3130452" y="2596792"/>
            <a:ext cx="3809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7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A0A3424-E58F-396E-C289-75206311ABE4}"/>
              </a:ext>
            </a:extLst>
          </p:cNvPr>
          <p:cNvCxnSpPr>
            <a:cxnSpLocks/>
          </p:cNvCxnSpPr>
          <p:nvPr/>
        </p:nvCxnSpPr>
        <p:spPr>
          <a:xfrm>
            <a:off x="3074983" y="2557082"/>
            <a:ext cx="0" cy="348291"/>
          </a:xfrm>
          <a:prstGeom prst="straightConnector1">
            <a:avLst/>
          </a:prstGeom>
          <a:ln w="25400" cmpd="tri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F2F1BF-AD27-CF31-E29B-4824513CEFE3}"/>
              </a:ext>
            </a:extLst>
          </p:cNvPr>
          <p:cNvCxnSpPr>
            <a:cxnSpLocks/>
          </p:cNvCxnSpPr>
          <p:nvPr/>
        </p:nvCxnSpPr>
        <p:spPr>
          <a:xfrm flipV="1">
            <a:off x="3164605" y="2549480"/>
            <a:ext cx="0" cy="348291"/>
          </a:xfrm>
          <a:prstGeom prst="straightConnector1">
            <a:avLst/>
          </a:prstGeom>
          <a:ln w="25400" cmpd="tri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Shape&#10;&#10;Description automatically generated with low confidence">
            <a:extLst>
              <a:ext uri="{FF2B5EF4-FFF2-40B4-BE49-F238E27FC236}">
                <a16:creationId xmlns:a16="http://schemas.microsoft.com/office/drawing/2014/main" id="{1B84F5E4-B648-316B-1B91-AFA3086F81A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18215" y="1274132"/>
            <a:ext cx="348025" cy="348025"/>
          </a:xfrm>
          <a:prstGeom prst="rect">
            <a:avLst/>
          </a:prstGeom>
        </p:spPr>
      </p:pic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1926246F-3F12-C1CD-0951-1BB3817E6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680002">
            <a:off x="5563492" y="1629363"/>
            <a:ext cx="261158" cy="26115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1E4D403-A527-CC4C-8872-1A8045EBE7B5}"/>
              </a:ext>
            </a:extLst>
          </p:cNvPr>
          <p:cNvSpPr txBox="1"/>
          <p:nvPr/>
        </p:nvSpPr>
        <p:spPr>
          <a:xfrm>
            <a:off x="5322488" y="1477465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i+1</a:t>
            </a:r>
            <a:endParaRPr lang="en-US" i="1" dirty="0"/>
          </a:p>
        </p:txBody>
      </p:sp>
      <p:pic>
        <p:nvPicPr>
          <p:cNvPr id="19" name="Picture 18" descr="Shape&#10;&#10;Description automatically generated with low confidence">
            <a:extLst>
              <a:ext uri="{FF2B5EF4-FFF2-40B4-BE49-F238E27FC236}">
                <a16:creationId xmlns:a16="http://schemas.microsoft.com/office/drawing/2014/main" id="{15FED4BF-F8B0-43AC-85CA-2DC9B813F3B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19451" y="1891987"/>
            <a:ext cx="348025" cy="348025"/>
          </a:xfrm>
          <a:prstGeom prst="rect">
            <a:avLst/>
          </a:prstGeom>
        </p:spPr>
      </p:pic>
      <p:pic>
        <p:nvPicPr>
          <p:cNvPr id="20" name="Graphic 19" descr="Link with solid fill">
            <a:extLst>
              <a:ext uri="{FF2B5EF4-FFF2-40B4-BE49-F238E27FC236}">
                <a16:creationId xmlns:a16="http://schemas.microsoft.com/office/drawing/2014/main" id="{BFD845B9-8FD8-B228-B800-4AA50AEB1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680002">
            <a:off x="5564728" y="2247218"/>
            <a:ext cx="261158" cy="26115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9976BF4-3BED-BB75-FAB7-190803260298}"/>
              </a:ext>
            </a:extLst>
          </p:cNvPr>
          <p:cNvSpPr txBox="1"/>
          <p:nvPr/>
        </p:nvSpPr>
        <p:spPr>
          <a:xfrm>
            <a:off x="5323724" y="2095320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i+2</a:t>
            </a:r>
            <a:endParaRPr lang="en-US" i="1" dirty="0"/>
          </a:p>
        </p:txBody>
      </p:sp>
      <p:pic>
        <p:nvPicPr>
          <p:cNvPr id="24" name="Picture 23" descr="Shape&#10;&#10;Description automatically generated with low confidence">
            <a:extLst>
              <a:ext uri="{FF2B5EF4-FFF2-40B4-BE49-F238E27FC236}">
                <a16:creationId xmlns:a16="http://schemas.microsoft.com/office/drawing/2014/main" id="{41532C25-0C2A-2597-BC65-A880F93383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13678" y="2520582"/>
            <a:ext cx="348025" cy="348025"/>
          </a:xfrm>
          <a:prstGeom prst="rect">
            <a:avLst/>
          </a:prstGeom>
        </p:spPr>
      </p:pic>
      <p:pic>
        <p:nvPicPr>
          <p:cNvPr id="25" name="Graphic 24" descr="Link with solid fill">
            <a:extLst>
              <a:ext uri="{FF2B5EF4-FFF2-40B4-BE49-F238E27FC236}">
                <a16:creationId xmlns:a16="http://schemas.microsoft.com/office/drawing/2014/main" id="{B392B8D3-8D84-254E-08A5-34E66D3E9B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680002">
            <a:off x="5561321" y="2869275"/>
            <a:ext cx="261158" cy="26115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2811E0F-8C88-9A5F-EAB9-EE553B7BA5A7}"/>
              </a:ext>
            </a:extLst>
          </p:cNvPr>
          <p:cNvSpPr txBox="1"/>
          <p:nvPr/>
        </p:nvSpPr>
        <p:spPr>
          <a:xfrm>
            <a:off x="5330923" y="2716840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i+3</a:t>
            </a:r>
            <a:endParaRPr lang="en-US" i="1" dirty="0"/>
          </a:p>
        </p:txBody>
      </p:sp>
      <p:cxnSp>
        <p:nvCxnSpPr>
          <p:cNvPr id="86" name="Curved Connector 85">
            <a:extLst>
              <a:ext uri="{FF2B5EF4-FFF2-40B4-BE49-F238E27FC236}">
                <a16:creationId xmlns:a16="http://schemas.microsoft.com/office/drawing/2014/main" id="{D8DBA268-F0DC-0632-7C3C-009815D030A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61055" y="1853294"/>
            <a:ext cx="977108" cy="1119402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530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956B90-CA5C-1C80-EBB7-82C6E7708F7D}"/>
              </a:ext>
            </a:extLst>
          </p:cNvPr>
          <p:cNvSpPr txBox="1"/>
          <p:nvPr/>
        </p:nvSpPr>
        <p:spPr>
          <a:xfrm>
            <a:off x="2301594" y="405012"/>
            <a:ext cx="869148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Helvetica" pitchFamily="2" charset="0"/>
              </a:rPr>
              <a:t>dApp</a:t>
            </a:r>
            <a:r>
              <a:rPr lang="en-US" sz="1600" dirty="0">
                <a:latin typeface="Helvetica" pitchFamily="2" charset="0"/>
              </a:rPr>
              <a:t> </a:t>
            </a:r>
          </a:p>
          <a:p>
            <a:pPr algn="ctr"/>
            <a:r>
              <a:rPr lang="en-US" sz="1600" dirty="0">
                <a:latin typeface="Helvetica" pitchFamily="2" charset="0"/>
              </a:rPr>
              <a:t>Creator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36BEE5-197F-F15C-31A0-5A6DB2510306}"/>
              </a:ext>
            </a:extLst>
          </p:cNvPr>
          <p:cNvCxnSpPr>
            <a:cxnSpLocks/>
          </p:cNvCxnSpPr>
          <p:nvPr/>
        </p:nvCxnSpPr>
        <p:spPr>
          <a:xfrm>
            <a:off x="4596576" y="960198"/>
            <a:ext cx="0" cy="5006121"/>
          </a:xfrm>
          <a:prstGeom prst="straightConnector1">
            <a:avLst/>
          </a:prstGeom>
          <a:ln w="254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34EE01-983C-44F3-03D6-3B146298DF3D}"/>
              </a:ext>
            </a:extLst>
          </p:cNvPr>
          <p:cNvCxnSpPr>
            <a:cxnSpLocks/>
          </p:cNvCxnSpPr>
          <p:nvPr/>
        </p:nvCxnSpPr>
        <p:spPr>
          <a:xfrm>
            <a:off x="6875781" y="960198"/>
            <a:ext cx="0" cy="5006121"/>
          </a:xfrm>
          <a:prstGeom prst="straightConnector1">
            <a:avLst/>
          </a:prstGeom>
          <a:ln w="254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1219ADF-C9B8-78B3-0AB6-16D9D71C708A}"/>
              </a:ext>
            </a:extLst>
          </p:cNvPr>
          <p:cNvSpPr txBox="1"/>
          <p:nvPr/>
        </p:nvSpPr>
        <p:spPr>
          <a:xfrm>
            <a:off x="6385940" y="367391"/>
            <a:ext cx="960519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Smart </a:t>
            </a:r>
          </a:p>
          <a:p>
            <a:pPr algn="ctr"/>
            <a:r>
              <a:rPr lang="en-US" sz="1600" dirty="0">
                <a:latin typeface="Helvetica" pitchFamily="2" charset="0"/>
              </a:rPr>
              <a:t>Contract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CD0ADE-A2AB-EB59-CBA0-BF552B74CACC}"/>
              </a:ext>
            </a:extLst>
          </p:cNvPr>
          <p:cNvCxnSpPr>
            <a:cxnSpLocks/>
          </p:cNvCxnSpPr>
          <p:nvPr/>
        </p:nvCxnSpPr>
        <p:spPr>
          <a:xfrm>
            <a:off x="2724760" y="952166"/>
            <a:ext cx="0" cy="4982808"/>
          </a:xfrm>
          <a:prstGeom prst="straightConnector1">
            <a:avLst/>
          </a:prstGeom>
          <a:ln w="254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BE28EE-2B8D-0FE5-1631-D85378959045}"/>
              </a:ext>
            </a:extLst>
          </p:cNvPr>
          <p:cNvCxnSpPr>
            <a:cxnSpLocks/>
          </p:cNvCxnSpPr>
          <p:nvPr/>
        </p:nvCxnSpPr>
        <p:spPr>
          <a:xfrm flipH="1">
            <a:off x="1055266" y="952166"/>
            <a:ext cx="5639" cy="4959804"/>
          </a:xfrm>
          <a:prstGeom prst="straightConnector1">
            <a:avLst/>
          </a:prstGeom>
          <a:ln w="254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58761E-B4E1-61DB-EAE7-7C3169426BBB}"/>
              </a:ext>
            </a:extLst>
          </p:cNvPr>
          <p:cNvCxnSpPr>
            <a:cxnSpLocks/>
          </p:cNvCxnSpPr>
          <p:nvPr/>
        </p:nvCxnSpPr>
        <p:spPr>
          <a:xfrm>
            <a:off x="2715393" y="1339970"/>
            <a:ext cx="4150807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1CAEE2-A1EA-06F2-0D69-A8018B440838}"/>
              </a:ext>
            </a:extLst>
          </p:cNvPr>
          <p:cNvCxnSpPr>
            <a:cxnSpLocks/>
          </p:cNvCxnSpPr>
          <p:nvPr/>
        </p:nvCxnSpPr>
        <p:spPr>
          <a:xfrm flipH="1">
            <a:off x="2715393" y="1779917"/>
            <a:ext cx="1881183" cy="0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90E986D-D74D-F3F6-8911-D5702D52523C}"/>
              </a:ext>
            </a:extLst>
          </p:cNvPr>
          <p:cNvSpPr/>
          <p:nvPr/>
        </p:nvSpPr>
        <p:spPr>
          <a:xfrm>
            <a:off x="161798" y="2118407"/>
            <a:ext cx="1998051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3. Generate TX details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E9305A-2DB0-B666-3992-95A4497A3C2C}"/>
              </a:ext>
            </a:extLst>
          </p:cNvPr>
          <p:cNvCxnSpPr>
            <a:cxnSpLocks/>
          </p:cNvCxnSpPr>
          <p:nvPr/>
        </p:nvCxnSpPr>
        <p:spPr>
          <a:xfrm>
            <a:off x="1060905" y="2662689"/>
            <a:ext cx="3535671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484B40A-F0D5-8565-46AD-1E09CD31641A}"/>
              </a:ext>
            </a:extLst>
          </p:cNvPr>
          <p:cNvCxnSpPr>
            <a:cxnSpLocks/>
          </p:cNvCxnSpPr>
          <p:nvPr/>
        </p:nvCxnSpPr>
        <p:spPr>
          <a:xfrm flipH="1">
            <a:off x="1055266" y="3358266"/>
            <a:ext cx="34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08A90D-295A-4199-80F2-0F0D4D1D1EFF}"/>
              </a:ext>
            </a:extLst>
          </p:cNvPr>
          <p:cNvCxnSpPr>
            <a:cxnSpLocks/>
          </p:cNvCxnSpPr>
          <p:nvPr/>
        </p:nvCxnSpPr>
        <p:spPr>
          <a:xfrm flipV="1">
            <a:off x="1023399" y="4149307"/>
            <a:ext cx="3499144" cy="28755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472A2B-FF30-A604-562A-4D214E70C3F6}"/>
              </a:ext>
            </a:extLst>
          </p:cNvPr>
          <p:cNvCxnSpPr>
            <a:cxnSpLocks/>
          </p:cNvCxnSpPr>
          <p:nvPr/>
        </p:nvCxnSpPr>
        <p:spPr>
          <a:xfrm flipH="1" flipV="1">
            <a:off x="1028190" y="4670717"/>
            <a:ext cx="3494353" cy="7631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7485B84-F623-0F92-9357-C3EFBBD9789A}"/>
              </a:ext>
            </a:extLst>
          </p:cNvPr>
          <p:cNvSpPr/>
          <p:nvPr/>
        </p:nvSpPr>
        <p:spPr>
          <a:xfrm>
            <a:off x="5023144" y="1174295"/>
            <a:ext cx="1361892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1. Deploy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C4E8CC-9E6F-5CBD-340D-4F1B12AB01B5}"/>
              </a:ext>
            </a:extLst>
          </p:cNvPr>
          <p:cNvSpPr/>
          <p:nvPr/>
        </p:nvSpPr>
        <p:spPr>
          <a:xfrm>
            <a:off x="2888484" y="1598212"/>
            <a:ext cx="1448631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2. Register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649943-A401-9837-C723-04ADA72B95D2}"/>
              </a:ext>
            </a:extLst>
          </p:cNvPr>
          <p:cNvSpPr/>
          <p:nvPr/>
        </p:nvSpPr>
        <p:spPr>
          <a:xfrm>
            <a:off x="2853405" y="2422488"/>
            <a:ext cx="1483725" cy="52322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4. Get VDF parameters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0538DA4-BA14-4ED7-D74A-E2C81F25C0DF}"/>
              </a:ext>
            </a:extLst>
          </p:cNvPr>
          <p:cNvSpPr/>
          <p:nvPr/>
        </p:nvSpPr>
        <p:spPr>
          <a:xfrm>
            <a:off x="3922269" y="3096656"/>
            <a:ext cx="1483736" cy="52322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5. Sample random prime 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7F29DF5-5550-A0C9-08BD-F7B8AB4EF349}"/>
              </a:ext>
            </a:extLst>
          </p:cNvPr>
          <p:cNvSpPr/>
          <p:nvPr/>
        </p:nvSpPr>
        <p:spPr>
          <a:xfrm>
            <a:off x="206348" y="3575411"/>
            <a:ext cx="1908953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6. Compute VDF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B7AD6C7-31E1-2551-A88E-C7835DB428BA}"/>
              </a:ext>
            </a:extLst>
          </p:cNvPr>
          <p:cNvSpPr/>
          <p:nvPr/>
        </p:nvSpPr>
        <p:spPr>
          <a:xfrm>
            <a:off x="2888484" y="3975540"/>
            <a:ext cx="1476653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7. Send proof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C62744-3F45-B4EB-7953-48AA6D128F30}"/>
              </a:ext>
            </a:extLst>
          </p:cNvPr>
          <p:cNvSpPr/>
          <p:nvPr/>
        </p:nvSpPr>
        <p:spPr>
          <a:xfrm>
            <a:off x="2888490" y="4494854"/>
            <a:ext cx="1476647" cy="276999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i="1" dirty="0">
                <a:latin typeface="Helvetica" pitchFamily="2" charset="0"/>
              </a:rPr>
              <a:t>8. Verify and sign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C2ED08D-7DCE-7536-7DE0-ED98FC5271AE}"/>
              </a:ext>
            </a:extLst>
          </p:cNvPr>
          <p:cNvCxnSpPr>
            <a:cxnSpLocks/>
          </p:cNvCxnSpPr>
          <p:nvPr/>
        </p:nvCxnSpPr>
        <p:spPr>
          <a:xfrm flipV="1">
            <a:off x="1028191" y="5023450"/>
            <a:ext cx="5814876" cy="1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AB36C8C2-8852-EC44-A3FB-908268E62BE7}"/>
              </a:ext>
            </a:extLst>
          </p:cNvPr>
          <p:cNvSpPr/>
          <p:nvPr/>
        </p:nvSpPr>
        <p:spPr>
          <a:xfrm>
            <a:off x="4996140" y="4801989"/>
            <a:ext cx="1351168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9. Submit TX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299A4C5-C40C-22BF-7B8F-21341AA0FEFC}"/>
              </a:ext>
            </a:extLst>
          </p:cNvPr>
          <p:cNvSpPr/>
          <p:nvPr/>
        </p:nvSpPr>
        <p:spPr>
          <a:xfrm>
            <a:off x="5862027" y="5342525"/>
            <a:ext cx="2008343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10. Verify Signatures</a:t>
            </a:r>
          </a:p>
        </p:txBody>
      </p:sp>
      <p:sp>
        <p:nvSpPr>
          <p:cNvPr id="52" name="Right Brace 51">
            <a:extLst>
              <a:ext uri="{FF2B5EF4-FFF2-40B4-BE49-F238E27FC236}">
                <a16:creationId xmlns:a16="http://schemas.microsoft.com/office/drawing/2014/main" id="{2B449B3A-0D46-300A-DDD9-46106353153D}"/>
              </a:ext>
            </a:extLst>
          </p:cNvPr>
          <p:cNvSpPr/>
          <p:nvPr/>
        </p:nvSpPr>
        <p:spPr>
          <a:xfrm>
            <a:off x="6960178" y="1171593"/>
            <a:ext cx="274922" cy="795230"/>
          </a:xfrm>
          <a:prstGeom prst="rightBrace">
            <a:avLst>
              <a:gd name="adj1" fmla="val 8333"/>
              <a:gd name="adj2" fmla="val 5469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091326-4F50-8B4C-236C-8FD9AEB20571}"/>
              </a:ext>
            </a:extLst>
          </p:cNvPr>
          <p:cNvSpPr txBox="1"/>
          <p:nvPr/>
        </p:nvSpPr>
        <p:spPr>
          <a:xfrm rot="5400000">
            <a:off x="6843528" y="1413546"/>
            <a:ext cx="110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Bootstrap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047FB5D-F9D5-049A-3C15-F9AFD02264C1}"/>
              </a:ext>
            </a:extLst>
          </p:cNvPr>
          <p:cNvGrpSpPr/>
          <p:nvPr/>
        </p:nvGrpSpPr>
        <p:grpSpPr>
          <a:xfrm>
            <a:off x="583280" y="156807"/>
            <a:ext cx="943972" cy="885170"/>
            <a:chOff x="4258978" y="1142514"/>
            <a:chExt cx="813816" cy="762801"/>
          </a:xfrm>
        </p:grpSpPr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DF8966CE-A1DA-659B-2F1F-5626EE7084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83091" y="1142514"/>
              <a:ext cx="565591" cy="541123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263E08-AF59-E284-CB02-8DC7B5909EA4}"/>
                </a:ext>
              </a:extLst>
            </p:cNvPr>
            <p:cNvSpPr txBox="1"/>
            <p:nvPr/>
          </p:nvSpPr>
          <p:spPr>
            <a:xfrm>
              <a:off x="4258978" y="1613564"/>
              <a:ext cx="813816" cy="291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Alice</a:t>
              </a:r>
            </a:p>
          </p:txBody>
        </p:sp>
      </p:grpSp>
      <p:pic>
        <p:nvPicPr>
          <p:cNvPr id="57" name="Picture 56" descr="Shape&#10;&#10;Description automatically generated with low confidence">
            <a:extLst>
              <a:ext uri="{FF2B5EF4-FFF2-40B4-BE49-F238E27FC236}">
                <a16:creationId xmlns:a16="http://schemas.microsoft.com/office/drawing/2014/main" id="{3655C6B2-EF22-3E98-3920-F8789541A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634" y="169294"/>
            <a:ext cx="729883" cy="67933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2F44FA9-9CE1-A62B-632A-407103D0DB7F}"/>
              </a:ext>
            </a:extLst>
          </p:cNvPr>
          <p:cNvSpPr txBox="1"/>
          <p:nvPr/>
        </p:nvSpPr>
        <p:spPr>
          <a:xfrm>
            <a:off x="4128907" y="700017"/>
            <a:ext cx="9439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Verifiers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136951A-15AE-7374-4F70-45541E072B61}"/>
              </a:ext>
            </a:extLst>
          </p:cNvPr>
          <p:cNvSpPr txBox="1"/>
          <p:nvPr/>
        </p:nvSpPr>
        <p:spPr>
          <a:xfrm>
            <a:off x="8219310" y="7029182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32B4ECB-1CFA-C63C-CACB-B9CB287F5DB0}"/>
              </a:ext>
            </a:extLst>
          </p:cNvPr>
          <p:cNvSpPr txBox="1"/>
          <p:nvPr/>
        </p:nvSpPr>
        <p:spPr>
          <a:xfrm>
            <a:off x="8219310" y="7650329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9A0CBA6-929F-985A-675D-7FC12BFECCE1}"/>
              </a:ext>
            </a:extLst>
          </p:cNvPr>
          <p:cNvSpPr txBox="1"/>
          <p:nvPr/>
        </p:nvSpPr>
        <p:spPr>
          <a:xfrm>
            <a:off x="8212868" y="8274475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34849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0CAE51-CB2F-B87A-2203-404249DEE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4D373C9-71B7-D5E0-26EE-3B6709658F04}"/>
              </a:ext>
            </a:extLst>
          </p:cNvPr>
          <p:cNvSpPr txBox="1"/>
          <p:nvPr/>
        </p:nvSpPr>
        <p:spPr>
          <a:xfrm>
            <a:off x="2303526" y="461369"/>
            <a:ext cx="869148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Helvetica" pitchFamily="2" charset="0"/>
              </a:rPr>
              <a:t>dApp</a:t>
            </a:r>
            <a:r>
              <a:rPr lang="en-US" sz="1600" dirty="0">
                <a:latin typeface="Helvetica" pitchFamily="2" charset="0"/>
              </a:rPr>
              <a:t> </a:t>
            </a:r>
          </a:p>
          <a:p>
            <a:pPr algn="ctr"/>
            <a:r>
              <a:rPr lang="en-US" sz="1600" dirty="0">
                <a:latin typeface="Helvetica" pitchFamily="2" charset="0"/>
              </a:rPr>
              <a:t>Creator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1DD93D-6D92-064F-5421-4FE627E83815}"/>
              </a:ext>
            </a:extLst>
          </p:cNvPr>
          <p:cNvCxnSpPr>
            <a:cxnSpLocks/>
          </p:cNvCxnSpPr>
          <p:nvPr/>
        </p:nvCxnSpPr>
        <p:spPr>
          <a:xfrm>
            <a:off x="4596576" y="960198"/>
            <a:ext cx="0" cy="5464771"/>
          </a:xfrm>
          <a:prstGeom prst="straightConnector1">
            <a:avLst/>
          </a:prstGeom>
          <a:ln w="254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86DF78-1C00-1C09-D04A-BE5215728C94}"/>
              </a:ext>
            </a:extLst>
          </p:cNvPr>
          <p:cNvCxnSpPr>
            <a:cxnSpLocks/>
          </p:cNvCxnSpPr>
          <p:nvPr/>
        </p:nvCxnSpPr>
        <p:spPr>
          <a:xfrm>
            <a:off x="2724760" y="952166"/>
            <a:ext cx="0" cy="5464771"/>
          </a:xfrm>
          <a:prstGeom prst="straightConnector1">
            <a:avLst/>
          </a:prstGeom>
          <a:ln w="254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85FB6C-2306-E859-76C5-01AC25B0CC0B}"/>
              </a:ext>
            </a:extLst>
          </p:cNvPr>
          <p:cNvCxnSpPr>
            <a:cxnSpLocks/>
          </p:cNvCxnSpPr>
          <p:nvPr/>
        </p:nvCxnSpPr>
        <p:spPr>
          <a:xfrm>
            <a:off x="1060905" y="952166"/>
            <a:ext cx="0" cy="5464771"/>
          </a:xfrm>
          <a:prstGeom prst="straightConnector1">
            <a:avLst/>
          </a:prstGeom>
          <a:ln w="254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0BF574-46D9-3DB3-A374-ACE718FC8D1D}"/>
              </a:ext>
            </a:extLst>
          </p:cNvPr>
          <p:cNvCxnSpPr>
            <a:cxnSpLocks/>
          </p:cNvCxnSpPr>
          <p:nvPr/>
        </p:nvCxnSpPr>
        <p:spPr>
          <a:xfrm flipV="1">
            <a:off x="2715393" y="1329205"/>
            <a:ext cx="3829181" cy="10765"/>
          </a:xfrm>
          <a:prstGeom prst="straightConnector1">
            <a:avLst/>
          </a:prstGeom>
          <a:ln w="254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4ADFE3-78BF-636D-16E6-3A398957B1DA}"/>
              </a:ext>
            </a:extLst>
          </p:cNvPr>
          <p:cNvCxnSpPr>
            <a:cxnSpLocks/>
          </p:cNvCxnSpPr>
          <p:nvPr/>
        </p:nvCxnSpPr>
        <p:spPr>
          <a:xfrm flipH="1">
            <a:off x="2715393" y="1779917"/>
            <a:ext cx="1881183" cy="0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CAF9DE2-AD28-E5ED-BE7E-80DF94194EDB}"/>
              </a:ext>
            </a:extLst>
          </p:cNvPr>
          <p:cNvSpPr/>
          <p:nvPr/>
        </p:nvSpPr>
        <p:spPr>
          <a:xfrm>
            <a:off x="161798" y="2118407"/>
            <a:ext cx="1998051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3. Generate TX details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631F8AC-90B3-1E69-96B5-217B128E98FC}"/>
              </a:ext>
            </a:extLst>
          </p:cNvPr>
          <p:cNvCxnSpPr>
            <a:cxnSpLocks/>
          </p:cNvCxnSpPr>
          <p:nvPr/>
        </p:nvCxnSpPr>
        <p:spPr>
          <a:xfrm>
            <a:off x="1060905" y="2662689"/>
            <a:ext cx="3535671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1CEAE0E-4DA5-5CDD-D573-875D4A1FF8C7}"/>
              </a:ext>
            </a:extLst>
          </p:cNvPr>
          <p:cNvCxnSpPr>
            <a:cxnSpLocks/>
          </p:cNvCxnSpPr>
          <p:nvPr/>
        </p:nvCxnSpPr>
        <p:spPr>
          <a:xfrm flipH="1">
            <a:off x="1055266" y="3358266"/>
            <a:ext cx="3454489" cy="0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70E737E-549B-393F-411D-A93EC2A217BB}"/>
              </a:ext>
            </a:extLst>
          </p:cNvPr>
          <p:cNvCxnSpPr>
            <a:cxnSpLocks/>
          </p:cNvCxnSpPr>
          <p:nvPr/>
        </p:nvCxnSpPr>
        <p:spPr>
          <a:xfrm flipV="1">
            <a:off x="1023399" y="4149307"/>
            <a:ext cx="3499144" cy="28755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9F02F92-B75E-ABFA-5F85-22D4EA6E74D9}"/>
              </a:ext>
            </a:extLst>
          </p:cNvPr>
          <p:cNvCxnSpPr>
            <a:cxnSpLocks/>
          </p:cNvCxnSpPr>
          <p:nvPr/>
        </p:nvCxnSpPr>
        <p:spPr>
          <a:xfrm flipH="1" flipV="1">
            <a:off x="1028190" y="4670717"/>
            <a:ext cx="3494353" cy="7631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D2A622C-FD82-9D72-905C-33A1CA0D543C}"/>
              </a:ext>
            </a:extLst>
          </p:cNvPr>
          <p:cNvSpPr/>
          <p:nvPr/>
        </p:nvSpPr>
        <p:spPr>
          <a:xfrm>
            <a:off x="4872073" y="1175317"/>
            <a:ext cx="1361892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1. Deploy SC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3E70CD4-424B-2FED-62CD-AE5E46B78D42}"/>
              </a:ext>
            </a:extLst>
          </p:cNvPr>
          <p:cNvSpPr/>
          <p:nvPr/>
        </p:nvSpPr>
        <p:spPr>
          <a:xfrm>
            <a:off x="2888484" y="1598212"/>
            <a:ext cx="1448631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2. Register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E0623B-6E0E-6AE9-E973-D2FDD2D8A988}"/>
              </a:ext>
            </a:extLst>
          </p:cNvPr>
          <p:cNvSpPr/>
          <p:nvPr/>
        </p:nvSpPr>
        <p:spPr>
          <a:xfrm>
            <a:off x="2853405" y="2422488"/>
            <a:ext cx="1483725" cy="52322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4. Get VDF parameters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3CF4D41-AF41-E6BA-D5CB-EB5704C18584}"/>
              </a:ext>
            </a:extLst>
          </p:cNvPr>
          <p:cNvSpPr/>
          <p:nvPr/>
        </p:nvSpPr>
        <p:spPr>
          <a:xfrm>
            <a:off x="3922269" y="3096656"/>
            <a:ext cx="1483736" cy="52322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5. Sample random prime 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E1A02F-8E5E-C6F5-A153-FCF022962595}"/>
              </a:ext>
            </a:extLst>
          </p:cNvPr>
          <p:cNvSpPr/>
          <p:nvPr/>
        </p:nvSpPr>
        <p:spPr>
          <a:xfrm>
            <a:off x="206348" y="3575411"/>
            <a:ext cx="1908953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6. Compute VDF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8DA63B5-9436-6811-308F-16381848FB9C}"/>
              </a:ext>
            </a:extLst>
          </p:cNvPr>
          <p:cNvSpPr/>
          <p:nvPr/>
        </p:nvSpPr>
        <p:spPr>
          <a:xfrm>
            <a:off x="2888484" y="3975540"/>
            <a:ext cx="1476653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7. Send proof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E4CD149-B1CB-8922-7E7E-24CD7E578EE7}"/>
              </a:ext>
            </a:extLst>
          </p:cNvPr>
          <p:cNvSpPr/>
          <p:nvPr/>
        </p:nvSpPr>
        <p:spPr>
          <a:xfrm>
            <a:off x="2888490" y="4494854"/>
            <a:ext cx="1476647" cy="276999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i="1" dirty="0">
                <a:latin typeface="Helvetica" pitchFamily="2" charset="0"/>
              </a:rPr>
              <a:t>8. Verify and sign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9E3ACAD-20EF-61BE-ED53-089817344776}"/>
              </a:ext>
            </a:extLst>
          </p:cNvPr>
          <p:cNvCxnSpPr>
            <a:cxnSpLocks/>
          </p:cNvCxnSpPr>
          <p:nvPr/>
        </p:nvCxnSpPr>
        <p:spPr>
          <a:xfrm>
            <a:off x="1028191" y="5023451"/>
            <a:ext cx="5516383" cy="23905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5FBD1EB-3443-7860-B0C6-16AC8E087CE9}"/>
              </a:ext>
            </a:extLst>
          </p:cNvPr>
          <p:cNvSpPr/>
          <p:nvPr/>
        </p:nvSpPr>
        <p:spPr>
          <a:xfrm>
            <a:off x="4868772" y="4869561"/>
            <a:ext cx="1351168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9. Submit TX</a:t>
            </a:r>
          </a:p>
        </p:txBody>
      </p:sp>
      <p:sp>
        <p:nvSpPr>
          <p:cNvPr id="52" name="Right Brace 51">
            <a:extLst>
              <a:ext uri="{FF2B5EF4-FFF2-40B4-BE49-F238E27FC236}">
                <a16:creationId xmlns:a16="http://schemas.microsoft.com/office/drawing/2014/main" id="{53DB2B14-FA16-64E5-3456-0EFB88790DD5}"/>
              </a:ext>
            </a:extLst>
          </p:cNvPr>
          <p:cNvSpPr/>
          <p:nvPr/>
        </p:nvSpPr>
        <p:spPr>
          <a:xfrm rot="10800000">
            <a:off x="2324456" y="1110759"/>
            <a:ext cx="274922" cy="795230"/>
          </a:xfrm>
          <a:prstGeom prst="rightBrace">
            <a:avLst>
              <a:gd name="adj1" fmla="val 8333"/>
              <a:gd name="adj2" fmla="val 54697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166DCC-2478-09BD-B8FE-75507E8DDA7A}"/>
              </a:ext>
            </a:extLst>
          </p:cNvPr>
          <p:cNvSpPr txBox="1"/>
          <p:nvPr/>
        </p:nvSpPr>
        <p:spPr>
          <a:xfrm rot="16200000">
            <a:off x="1665524" y="1287802"/>
            <a:ext cx="110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Bootstrap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327430C-ECD9-1354-BFA5-8F5AF458D7B9}"/>
              </a:ext>
            </a:extLst>
          </p:cNvPr>
          <p:cNvGrpSpPr/>
          <p:nvPr/>
        </p:nvGrpSpPr>
        <p:grpSpPr>
          <a:xfrm>
            <a:off x="583280" y="282115"/>
            <a:ext cx="943972" cy="885170"/>
            <a:chOff x="4258978" y="1142514"/>
            <a:chExt cx="813816" cy="762801"/>
          </a:xfrm>
        </p:grpSpPr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0249FC1E-67A1-850C-1930-6AE2A19A3D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83091" y="1142514"/>
              <a:ext cx="565591" cy="541123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A07166F-DE9C-8A13-AF5B-3E2CB436E163}"/>
                </a:ext>
              </a:extLst>
            </p:cNvPr>
            <p:cNvSpPr txBox="1"/>
            <p:nvPr/>
          </p:nvSpPr>
          <p:spPr>
            <a:xfrm>
              <a:off x="4258978" y="1613564"/>
              <a:ext cx="813816" cy="291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Alice</a:t>
              </a:r>
            </a:p>
          </p:txBody>
        </p:sp>
      </p:grpSp>
      <p:pic>
        <p:nvPicPr>
          <p:cNvPr id="57" name="Picture 56" descr="Shape&#10;&#10;Description automatically generated with low confidence">
            <a:extLst>
              <a:ext uri="{FF2B5EF4-FFF2-40B4-BE49-F238E27FC236}">
                <a16:creationId xmlns:a16="http://schemas.microsoft.com/office/drawing/2014/main" id="{884DF05A-2999-9302-121B-979D98F25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634" y="169294"/>
            <a:ext cx="729883" cy="67933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699FF0B3-E664-ED53-1ED1-233D0E08E0B4}"/>
              </a:ext>
            </a:extLst>
          </p:cNvPr>
          <p:cNvSpPr txBox="1"/>
          <p:nvPr/>
        </p:nvSpPr>
        <p:spPr>
          <a:xfrm>
            <a:off x="4128907" y="700017"/>
            <a:ext cx="9439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Verifiers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6BC58E9-FAC7-0319-1D32-53A74A014322}"/>
              </a:ext>
            </a:extLst>
          </p:cNvPr>
          <p:cNvSpPr/>
          <p:nvPr/>
        </p:nvSpPr>
        <p:spPr>
          <a:xfrm>
            <a:off x="6630630" y="806776"/>
            <a:ext cx="586864" cy="5610161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  <a:effectLst>
            <a:softEdge rad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3" name="Picture 62" descr="Shape&#10;&#10;Description automatically generated with low confidence">
            <a:extLst>
              <a:ext uri="{FF2B5EF4-FFF2-40B4-BE49-F238E27FC236}">
                <a16:creationId xmlns:a16="http://schemas.microsoft.com/office/drawing/2014/main" id="{3C3DA562-03E2-791C-9159-F96A9422758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72048" y="866139"/>
            <a:ext cx="348025" cy="348025"/>
          </a:xfrm>
          <a:prstGeom prst="rect">
            <a:avLst/>
          </a:prstGeom>
        </p:spPr>
      </p:pic>
      <p:pic>
        <p:nvPicPr>
          <p:cNvPr id="64" name="Graphic 63" descr="Link with solid fill">
            <a:extLst>
              <a:ext uri="{FF2B5EF4-FFF2-40B4-BE49-F238E27FC236}">
                <a16:creationId xmlns:a16="http://schemas.microsoft.com/office/drawing/2014/main" id="{0AC2D0FB-8464-4517-71EA-268318F565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80002">
            <a:off x="6817325" y="1221370"/>
            <a:ext cx="261158" cy="26115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71EA12C8-87AB-6524-A056-7F22C79DC90C}"/>
              </a:ext>
            </a:extLst>
          </p:cNvPr>
          <p:cNvSpPr txBox="1"/>
          <p:nvPr/>
        </p:nvSpPr>
        <p:spPr>
          <a:xfrm>
            <a:off x="6791636" y="5822409"/>
            <a:ext cx="3136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43CC2C-CBEB-3F5D-8624-D0B4531D62AD}"/>
              </a:ext>
            </a:extLst>
          </p:cNvPr>
          <p:cNvSpPr txBox="1"/>
          <p:nvPr/>
        </p:nvSpPr>
        <p:spPr>
          <a:xfrm>
            <a:off x="6352324" y="502888"/>
            <a:ext cx="1179057" cy="30777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Blockchain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D32C9F1-0CAF-2C65-8E75-ECEC2AA75D51}"/>
              </a:ext>
            </a:extLst>
          </p:cNvPr>
          <p:cNvSpPr txBox="1"/>
          <p:nvPr/>
        </p:nvSpPr>
        <p:spPr>
          <a:xfrm>
            <a:off x="6576321" y="1069472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</a:t>
            </a:r>
            <a:endParaRPr lang="en-US" i="1" dirty="0"/>
          </a:p>
        </p:txBody>
      </p:sp>
      <p:pic>
        <p:nvPicPr>
          <p:cNvPr id="68" name="Picture 67" descr="Shape&#10;&#10;Description automatically generated with low confidence">
            <a:extLst>
              <a:ext uri="{FF2B5EF4-FFF2-40B4-BE49-F238E27FC236}">
                <a16:creationId xmlns:a16="http://schemas.microsoft.com/office/drawing/2014/main" id="{CB8550AE-17D8-B28A-34A8-5C84FF51483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65997" y="1491573"/>
            <a:ext cx="348025" cy="348025"/>
          </a:xfrm>
          <a:prstGeom prst="rect">
            <a:avLst/>
          </a:prstGeom>
        </p:spPr>
      </p:pic>
      <p:pic>
        <p:nvPicPr>
          <p:cNvPr id="69" name="Graphic 68" descr="Link with solid fill">
            <a:extLst>
              <a:ext uri="{FF2B5EF4-FFF2-40B4-BE49-F238E27FC236}">
                <a16:creationId xmlns:a16="http://schemas.microsoft.com/office/drawing/2014/main" id="{B3E5E186-1504-BE89-0AB9-6A26F125F7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80002">
            <a:off x="6811274" y="1846804"/>
            <a:ext cx="261158" cy="261158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1C93DEA1-F1AA-8080-60E3-ADC9B17D0413}"/>
              </a:ext>
            </a:extLst>
          </p:cNvPr>
          <p:cNvSpPr txBox="1"/>
          <p:nvPr/>
        </p:nvSpPr>
        <p:spPr>
          <a:xfrm>
            <a:off x="6570270" y="1694906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i+1</a:t>
            </a:r>
            <a:endParaRPr lang="en-US" i="1" dirty="0"/>
          </a:p>
        </p:txBody>
      </p:sp>
      <p:pic>
        <p:nvPicPr>
          <p:cNvPr id="71" name="Picture 70" descr="Shape&#10;&#10;Description automatically generated with low confidence">
            <a:extLst>
              <a:ext uri="{FF2B5EF4-FFF2-40B4-BE49-F238E27FC236}">
                <a16:creationId xmlns:a16="http://schemas.microsoft.com/office/drawing/2014/main" id="{79D31C4C-9234-D92D-0978-F82EF52B161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67233" y="2109428"/>
            <a:ext cx="348025" cy="348025"/>
          </a:xfrm>
          <a:prstGeom prst="rect">
            <a:avLst/>
          </a:prstGeom>
        </p:spPr>
      </p:pic>
      <p:pic>
        <p:nvPicPr>
          <p:cNvPr id="72" name="Graphic 71" descr="Link with solid fill">
            <a:extLst>
              <a:ext uri="{FF2B5EF4-FFF2-40B4-BE49-F238E27FC236}">
                <a16:creationId xmlns:a16="http://schemas.microsoft.com/office/drawing/2014/main" id="{8150E8FF-1F08-3633-17B0-C773064177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80002">
            <a:off x="6812510" y="2464659"/>
            <a:ext cx="261158" cy="261158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D85B14F6-40F3-5753-B03D-BC34507223F4}"/>
              </a:ext>
            </a:extLst>
          </p:cNvPr>
          <p:cNvSpPr txBox="1"/>
          <p:nvPr/>
        </p:nvSpPr>
        <p:spPr>
          <a:xfrm>
            <a:off x="6571506" y="2312761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i+2</a:t>
            </a:r>
            <a:endParaRPr lang="en-US" i="1" dirty="0"/>
          </a:p>
        </p:txBody>
      </p:sp>
      <p:pic>
        <p:nvPicPr>
          <p:cNvPr id="74" name="Picture 73" descr="Shape&#10;&#10;Description automatically generated with low confidence">
            <a:extLst>
              <a:ext uri="{FF2B5EF4-FFF2-40B4-BE49-F238E27FC236}">
                <a16:creationId xmlns:a16="http://schemas.microsoft.com/office/drawing/2014/main" id="{F72CD10F-E361-4E57-0E86-97433FBAA9C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61460" y="2738023"/>
            <a:ext cx="348025" cy="348025"/>
          </a:xfrm>
          <a:prstGeom prst="rect">
            <a:avLst/>
          </a:prstGeom>
        </p:spPr>
      </p:pic>
      <p:pic>
        <p:nvPicPr>
          <p:cNvPr id="75" name="Graphic 74" descr="Link with solid fill">
            <a:extLst>
              <a:ext uri="{FF2B5EF4-FFF2-40B4-BE49-F238E27FC236}">
                <a16:creationId xmlns:a16="http://schemas.microsoft.com/office/drawing/2014/main" id="{864DF08C-A6D1-0182-425E-FC11781235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80002">
            <a:off x="6809103" y="3086716"/>
            <a:ext cx="261158" cy="261158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22268574-6E5B-C53C-A97E-8CC6954A4862}"/>
              </a:ext>
            </a:extLst>
          </p:cNvPr>
          <p:cNvSpPr txBox="1"/>
          <p:nvPr/>
        </p:nvSpPr>
        <p:spPr>
          <a:xfrm>
            <a:off x="6578705" y="2934281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i+3</a:t>
            </a:r>
            <a:endParaRPr lang="en-US" i="1" dirty="0"/>
          </a:p>
        </p:txBody>
      </p:sp>
      <p:pic>
        <p:nvPicPr>
          <p:cNvPr id="112" name="Picture 111" descr="Shape&#10;&#10;Description automatically generated with low confidence">
            <a:extLst>
              <a:ext uri="{FF2B5EF4-FFF2-40B4-BE49-F238E27FC236}">
                <a16:creationId xmlns:a16="http://schemas.microsoft.com/office/drawing/2014/main" id="{9F892BBB-1286-D776-B571-6DEC93C6545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65997" y="3351638"/>
            <a:ext cx="348025" cy="348025"/>
          </a:xfrm>
          <a:prstGeom prst="rect">
            <a:avLst/>
          </a:prstGeom>
        </p:spPr>
      </p:pic>
      <p:pic>
        <p:nvPicPr>
          <p:cNvPr id="113" name="Graphic 112" descr="Link with solid fill">
            <a:extLst>
              <a:ext uri="{FF2B5EF4-FFF2-40B4-BE49-F238E27FC236}">
                <a16:creationId xmlns:a16="http://schemas.microsoft.com/office/drawing/2014/main" id="{FD544C30-0302-5D46-9A77-D8E47FACA8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80002">
            <a:off x="6813640" y="3700331"/>
            <a:ext cx="261158" cy="261158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D5EB28FF-9BEB-202D-5E97-BF6C0FB647BF}"/>
              </a:ext>
            </a:extLst>
          </p:cNvPr>
          <p:cNvSpPr txBox="1"/>
          <p:nvPr/>
        </p:nvSpPr>
        <p:spPr>
          <a:xfrm>
            <a:off x="6583242" y="3547896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i+4</a:t>
            </a:r>
            <a:endParaRPr lang="en-US" i="1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2A0C5EB-E8BC-13FD-3375-9678527997D9}"/>
              </a:ext>
            </a:extLst>
          </p:cNvPr>
          <p:cNvSpPr txBox="1"/>
          <p:nvPr/>
        </p:nvSpPr>
        <p:spPr>
          <a:xfrm>
            <a:off x="8219310" y="7029182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pic>
        <p:nvPicPr>
          <p:cNvPr id="116" name="Picture 115" descr="Shape&#10;&#10;Description automatically generated with low confidence">
            <a:extLst>
              <a:ext uri="{FF2B5EF4-FFF2-40B4-BE49-F238E27FC236}">
                <a16:creationId xmlns:a16="http://schemas.microsoft.com/office/drawing/2014/main" id="{E32EC326-E17B-02BF-BBCB-6A3155DF823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70249" y="3979839"/>
            <a:ext cx="348025" cy="348025"/>
          </a:xfrm>
          <a:prstGeom prst="rect">
            <a:avLst/>
          </a:prstGeom>
        </p:spPr>
      </p:pic>
      <p:pic>
        <p:nvPicPr>
          <p:cNvPr id="117" name="Graphic 116" descr="Link with solid fill">
            <a:extLst>
              <a:ext uri="{FF2B5EF4-FFF2-40B4-BE49-F238E27FC236}">
                <a16:creationId xmlns:a16="http://schemas.microsoft.com/office/drawing/2014/main" id="{4BE5450E-AB3D-70C9-2A23-DE409C5E1E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80002">
            <a:off x="6817892" y="4328532"/>
            <a:ext cx="261158" cy="261158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FBA2E9BD-11F0-9D76-3E7C-EECD1E6DDB2A}"/>
              </a:ext>
            </a:extLst>
          </p:cNvPr>
          <p:cNvSpPr txBox="1"/>
          <p:nvPr/>
        </p:nvSpPr>
        <p:spPr>
          <a:xfrm>
            <a:off x="6587494" y="4176097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i+5</a:t>
            </a:r>
            <a:endParaRPr lang="en-US" i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3AD499E-377D-1A43-7406-3757420B91E7}"/>
              </a:ext>
            </a:extLst>
          </p:cNvPr>
          <p:cNvSpPr txBox="1"/>
          <p:nvPr/>
        </p:nvSpPr>
        <p:spPr>
          <a:xfrm>
            <a:off x="8219310" y="7650329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pic>
        <p:nvPicPr>
          <p:cNvPr id="120" name="Picture 119" descr="Shape&#10;&#10;Description automatically generated with low confidence">
            <a:extLst>
              <a:ext uri="{FF2B5EF4-FFF2-40B4-BE49-F238E27FC236}">
                <a16:creationId xmlns:a16="http://schemas.microsoft.com/office/drawing/2014/main" id="{9A5C857A-D3CA-A83C-3872-7484889F1C3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70249" y="4600986"/>
            <a:ext cx="348025" cy="348025"/>
          </a:xfrm>
          <a:prstGeom prst="rect">
            <a:avLst/>
          </a:prstGeom>
        </p:spPr>
      </p:pic>
      <p:pic>
        <p:nvPicPr>
          <p:cNvPr id="121" name="Graphic 120" descr="Link with solid fill">
            <a:extLst>
              <a:ext uri="{FF2B5EF4-FFF2-40B4-BE49-F238E27FC236}">
                <a16:creationId xmlns:a16="http://schemas.microsoft.com/office/drawing/2014/main" id="{CB911DB9-1406-9105-D42F-C0E0EC7F09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80002">
            <a:off x="6817892" y="4949679"/>
            <a:ext cx="261158" cy="261158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01373E2F-DA38-C8AB-38C5-5CB7C03AFEEE}"/>
              </a:ext>
            </a:extLst>
          </p:cNvPr>
          <p:cNvSpPr txBox="1"/>
          <p:nvPr/>
        </p:nvSpPr>
        <p:spPr>
          <a:xfrm>
            <a:off x="6587494" y="4797244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i+6</a:t>
            </a:r>
            <a:endParaRPr lang="en-US" i="1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02539EF-D2CD-0762-0E1B-0601E225AE69}"/>
              </a:ext>
            </a:extLst>
          </p:cNvPr>
          <p:cNvSpPr txBox="1"/>
          <p:nvPr/>
        </p:nvSpPr>
        <p:spPr>
          <a:xfrm>
            <a:off x="8212868" y="8274475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pic>
        <p:nvPicPr>
          <p:cNvPr id="124" name="Picture 123" descr="Shape&#10;&#10;Description automatically generated with low confidence">
            <a:extLst>
              <a:ext uri="{FF2B5EF4-FFF2-40B4-BE49-F238E27FC236}">
                <a16:creationId xmlns:a16="http://schemas.microsoft.com/office/drawing/2014/main" id="{0B9016AA-0E6B-585A-28CA-AA28C484AF3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63807" y="5225132"/>
            <a:ext cx="348025" cy="348025"/>
          </a:xfrm>
          <a:prstGeom prst="rect">
            <a:avLst/>
          </a:prstGeom>
        </p:spPr>
      </p:pic>
      <p:pic>
        <p:nvPicPr>
          <p:cNvPr id="125" name="Graphic 124" descr="Link with solid fill">
            <a:extLst>
              <a:ext uri="{FF2B5EF4-FFF2-40B4-BE49-F238E27FC236}">
                <a16:creationId xmlns:a16="http://schemas.microsoft.com/office/drawing/2014/main" id="{28EF7C7F-6EE9-F150-2F7A-CEACFC04F8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80002">
            <a:off x="6811450" y="5573825"/>
            <a:ext cx="261158" cy="261158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0E5F2C6C-98A9-E8AA-1DD4-9BBB6ED66699}"/>
              </a:ext>
            </a:extLst>
          </p:cNvPr>
          <p:cNvSpPr txBox="1"/>
          <p:nvPr/>
        </p:nvSpPr>
        <p:spPr>
          <a:xfrm>
            <a:off x="6581052" y="5421390"/>
            <a:ext cx="398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</a:t>
            </a:r>
            <a:r>
              <a:rPr lang="en-US" sz="1200" i="1" baseline="-25000" dirty="0"/>
              <a:t>i+7</a:t>
            </a:r>
            <a:endParaRPr lang="en-US" i="1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D74B806-D21A-3411-7CAA-DF5FC84CC5E8}"/>
              </a:ext>
            </a:extLst>
          </p:cNvPr>
          <p:cNvSpPr/>
          <p:nvPr/>
        </p:nvSpPr>
        <p:spPr>
          <a:xfrm>
            <a:off x="6405600" y="5901749"/>
            <a:ext cx="1059744" cy="52322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10. Verify &amp; Execute</a:t>
            </a:r>
          </a:p>
        </p:txBody>
      </p:sp>
    </p:spTree>
    <p:extLst>
      <p:ext uri="{BB962C8B-B14F-4D97-AF65-F5344CB8AC3E}">
        <p14:creationId xmlns:p14="http://schemas.microsoft.com/office/powerpoint/2010/main" val="9584569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3238-391A-ADEF-1BE2-4AE8120F4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97B64AA-5F4D-9057-FBC2-658E3571F154}"/>
              </a:ext>
            </a:extLst>
          </p:cNvPr>
          <p:cNvCxnSpPr>
            <a:cxnSpLocks/>
          </p:cNvCxnSpPr>
          <p:nvPr/>
        </p:nvCxnSpPr>
        <p:spPr>
          <a:xfrm>
            <a:off x="164320" y="5448140"/>
            <a:ext cx="10241628" cy="0"/>
          </a:xfrm>
          <a:prstGeom prst="straightConnector1">
            <a:avLst/>
          </a:prstGeom>
          <a:ln w="34925" cmpd="tri">
            <a:solidFill>
              <a:schemeClr val="tx1">
                <a:alpha val="98000"/>
              </a:schemeClr>
            </a:solidFill>
            <a:prstDash val="sysDot"/>
            <a:headEnd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3272755-7A2A-0AF9-BE16-3C90F570B4D1}"/>
              </a:ext>
            </a:extLst>
          </p:cNvPr>
          <p:cNvCxnSpPr>
            <a:cxnSpLocks/>
          </p:cNvCxnSpPr>
          <p:nvPr/>
        </p:nvCxnSpPr>
        <p:spPr>
          <a:xfrm flipV="1">
            <a:off x="201624" y="2053213"/>
            <a:ext cx="10204324" cy="9082"/>
          </a:xfrm>
          <a:prstGeom prst="straightConnector1">
            <a:avLst/>
          </a:prstGeom>
          <a:ln w="34925" cmpd="tri">
            <a:solidFill>
              <a:schemeClr val="tx1">
                <a:alpha val="98000"/>
              </a:schemeClr>
            </a:solidFill>
            <a:prstDash val="sysDot"/>
            <a:headEnd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94999D8-F7F9-D845-459A-AD1E2F81AB10}"/>
              </a:ext>
            </a:extLst>
          </p:cNvPr>
          <p:cNvSpPr txBox="1"/>
          <p:nvPr/>
        </p:nvSpPr>
        <p:spPr>
          <a:xfrm>
            <a:off x="6061239" y="495943"/>
            <a:ext cx="1781258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Manager </a:t>
            </a:r>
          </a:p>
          <a:p>
            <a:pPr algn="ctr"/>
            <a:r>
              <a:rPr lang="en-US" sz="1600" b="1" dirty="0">
                <a:latin typeface="Helvetica" pitchFamily="2" charset="0"/>
              </a:rPr>
              <a:t>(Hosts Enclave)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A096DD-8E35-7F75-7CA0-24EF5BCE1921}"/>
              </a:ext>
            </a:extLst>
          </p:cNvPr>
          <p:cNvCxnSpPr>
            <a:cxnSpLocks/>
          </p:cNvCxnSpPr>
          <p:nvPr/>
        </p:nvCxnSpPr>
        <p:spPr>
          <a:xfrm flipH="1">
            <a:off x="6950717" y="1056088"/>
            <a:ext cx="2303" cy="4592876"/>
          </a:xfrm>
          <a:prstGeom prst="straightConnector1">
            <a:avLst/>
          </a:prstGeom>
          <a:ln w="3492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78C728-5291-9150-E80C-99449CB9ACAA}"/>
              </a:ext>
            </a:extLst>
          </p:cNvPr>
          <p:cNvCxnSpPr>
            <a:cxnSpLocks/>
          </p:cNvCxnSpPr>
          <p:nvPr/>
        </p:nvCxnSpPr>
        <p:spPr>
          <a:xfrm>
            <a:off x="4399981" y="1071257"/>
            <a:ext cx="0" cy="4617390"/>
          </a:xfrm>
          <a:prstGeom prst="straightConnector1">
            <a:avLst/>
          </a:prstGeom>
          <a:ln w="3492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A17CA6-86C4-F4B7-84B2-9EDD38A5C96F}"/>
              </a:ext>
            </a:extLst>
          </p:cNvPr>
          <p:cNvCxnSpPr>
            <a:cxnSpLocks/>
          </p:cNvCxnSpPr>
          <p:nvPr/>
        </p:nvCxnSpPr>
        <p:spPr>
          <a:xfrm>
            <a:off x="1854543" y="1071257"/>
            <a:ext cx="0" cy="4592876"/>
          </a:xfrm>
          <a:prstGeom prst="straightConnector1">
            <a:avLst/>
          </a:prstGeom>
          <a:ln w="3492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BA1EFB-27F9-EAF1-50D1-3DF01FE23474}"/>
              </a:ext>
            </a:extLst>
          </p:cNvPr>
          <p:cNvCxnSpPr>
            <a:cxnSpLocks/>
          </p:cNvCxnSpPr>
          <p:nvPr/>
        </p:nvCxnSpPr>
        <p:spPr>
          <a:xfrm flipH="1" flipV="1">
            <a:off x="6976800" y="2411622"/>
            <a:ext cx="3377274" cy="4933"/>
          </a:xfrm>
          <a:prstGeom prst="straightConnector1">
            <a:avLst/>
          </a:prstGeom>
          <a:ln w="254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EC6A37-FE26-440F-3C1B-E591D2DE1AD2}"/>
              </a:ext>
            </a:extLst>
          </p:cNvPr>
          <p:cNvCxnSpPr>
            <a:cxnSpLocks/>
          </p:cNvCxnSpPr>
          <p:nvPr/>
        </p:nvCxnSpPr>
        <p:spPr>
          <a:xfrm>
            <a:off x="4415717" y="1865012"/>
            <a:ext cx="5990231" cy="6901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261FE2-D39A-0ED5-67C6-4002F856BE90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1851642" y="1479328"/>
            <a:ext cx="8554306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0A6B32B-FF69-2F03-37C5-F5F80245DE92}"/>
              </a:ext>
            </a:extLst>
          </p:cNvPr>
          <p:cNvSpPr/>
          <p:nvPr/>
        </p:nvSpPr>
        <p:spPr>
          <a:xfrm>
            <a:off x="1887365" y="1180676"/>
            <a:ext cx="1304636" cy="2679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1. Create Auction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9E7C6D-2DE4-D297-CA4E-836A49259C4E}"/>
              </a:ext>
            </a:extLst>
          </p:cNvPr>
          <p:cNvSpPr/>
          <p:nvPr/>
        </p:nvSpPr>
        <p:spPr>
          <a:xfrm>
            <a:off x="3419098" y="1650349"/>
            <a:ext cx="908336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2. Register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97CDFC-D831-45B2-F796-4BD2B31788C1}"/>
              </a:ext>
            </a:extLst>
          </p:cNvPr>
          <p:cNvSpPr/>
          <p:nvPr/>
        </p:nvSpPr>
        <p:spPr>
          <a:xfrm>
            <a:off x="3514283" y="2673124"/>
            <a:ext cx="1689752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5. Attestation Validation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809185-A784-6921-975A-D0FF21C3D85B}"/>
              </a:ext>
            </a:extLst>
          </p:cNvPr>
          <p:cNvSpPr/>
          <p:nvPr/>
        </p:nvSpPr>
        <p:spPr>
          <a:xfrm>
            <a:off x="3199579" y="3236890"/>
            <a:ext cx="1084313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6. Submit Bids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D9B85E4-7815-F396-98A0-8DD6CFD1B92E}"/>
              </a:ext>
            </a:extLst>
          </p:cNvPr>
          <p:cNvSpPr/>
          <p:nvPr/>
        </p:nvSpPr>
        <p:spPr>
          <a:xfrm>
            <a:off x="7493729" y="3736177"/>
            <a:ext cx="2553071" cy="2609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7. Retrieve Bids and Reputation State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FFFE229-CF17-9FCA-EAEE-E2780AEE089F}"/>
              </a:ext>
            </a:extLst>
          </p:cNvPr>
          <p:cNvSpPr/>
          <p:nvPr/>
        </p:nvSpPr>
        <p:spPr>
          <a:xfrm>
            <a:off x="5944209" y="4196718"/>
            <a:ext cx="1997845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8. Enclave Computes Winner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66CAC8-22F5-4EF2-E338-BFE0328E5218}"/>
              </a:ext>
            </a:extLst>
          </p:cNvPr>
          <p:cNvSpPr txBox="1"/>
          <p:nvPr/>
        </p:nvSpPr>
        <p:spPr>
          <a:xfrm>
            <a:off x="201624" y="1444909"/>
            <a:ext cx="1260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Auction Initiation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0122256-59B8-E30D-58F9-49250CE8AA63}"/>
              </a:ext>
            </a:extLst>
          </p:cNvPr>
          <p:cNvSpPr txBox="1"/>
          <p:nvPr/>
        </p:nvSpPr>
        <p:spPr>
          <a:xfrm>
            <a:off x="8219310" y="7029182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3DCA008-D4D7-2B95-26EB-1B082DE3B26D}"/>
              </a:ext>
            </a:extLst>
          </p:cNvPr>
          <p:cNvSpPr txBox="1"/>
          <p:nvPr/>
        </p:nvSpPr>
        <p:spPr>
          <a:xfrm>
            <a:off x="8219310" y="7650329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153B974-7BE2-F0CA-D87C-8D83C44EC9CF}"/>
              </a:ext>
            </a:extLst>
          </p:cNvPr>
          <p:cNvSpPr txBox="1"/>
          <p:nvPr/>
        </p:nvSpPr>
        <p:spPr>
          <a:xfrm>
            <a:off x="8212868" y="8274475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5875EB3-90B2-EA48-81FE-DE853B513B6B}"/>
              </a:ext>
            </a:extLst>
          </p:cNvPr>
          <p:cNvGrpSpPr/>
          <p:nvPr/>
        </p:nvGrpSpPr>
        <p:grpSpPr>
          <a:xfrm>
            <a:off x="10249883" y="573597"/>
            <a:ext cx="1179057" cy="5067684"/>
            <a:chOff x="6352323" y="620945"/>
            <a:chExt cx="1179057" cy="4965281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98E79A4-7F7C-F070-8418-4024F75E779E}"/>
                </a:ext>
              </a:extLst>
            </p:cNvPr>
            <p:cNvSpPr/>
            <p:nvPr/>
          </p:nvSpPr>
          <p:spPr>
            <a:xfrm>
              <a:off x="6570127" y="952167"/>
              <a:ext cx="681103" cy="4634059"/>
            </a:xfrm>
            <a:prstGeom prst="rect">
              <a:avLst/>
            </a:prstGeom>
            <a:ln>
              <a:solidFill>
                <a:schemeClr val="tx1"/>
              </a:solidFill>
              <a:prstDash val="sysDot"/>
            </a:ln>
            <a:effectLst>
              <a:softEdge rad="0"/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3" name="Picture 62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966BF736-2851-AE3A-ADCD-2DF879FE4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84842" y="1038571"/>
              <a:ext cx="506318" cy="506318"/>
            </a:xfrm>
            <a:prstGeom prst="rect">
              <a:avLst/>
            </a:prstGeom>
          </p:spPr>
        </p:pic>
        <p:pic>
          <p:nvPicPr>
            <p:cNvPr id="64" name="Graphic 63" descr="Link with solid fill">
              <a:extLst>
                <a:ext uri="{FF2B5EF4-FFF2-40B4-BE49-F238E27FC236}">
                  <a16:creationId xmlns:a16="http://schemas.microsoft.com/office/drawing/2014/main" id="{3E5C6D0E-BB94-2886-DE8D-BA5F414564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680002">
              <a:off x="6751342" y="1556167"/>
              <a:ext cx="381020" cy="381020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790D617-40A5-C81F-BDBD-CD7D8992FD48}"/>
                </a:ext>
              </a:extLst>
            </p:cNvPr>
            <p:cNvSpPr txBox="1"/>
            <p:nvPr/>
          </p:nvSpPr>
          <p:spPr>
            <a:xfrm>
              <a:off x="6352323" y="620945"/>
              <a:ext cx="1179057" cy="307777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Blockchain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C4C4F31-E5DE-E358-8731-616400C4BC6F}"/>
                </a:ext>
              </a:extLst>
            </p:cNvPr>
            <p:cNvSpPr txBox="1"/>
            <p:nvPr/>
          </p:nvSpPr>
          <p:spPr>
            <a:xfrm>
              <a:off x="6508388" y="1369874"/>
              <a:ext cx="3982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  <a:r>
                <a:rPr lang="en-US" sz="1200" i="1" baseline="-25000" dirty="0"/>
                <a:t>i+1</a:t>
              </a:r>
              <a:endParaRPr lang="en-US" i="1" dirty="0"/>
            </a:p>
          </p:txBody>
        </p:sp>
        <p:pic>
          <p:nvPicPr>
            <p:cNvPr id="2" name="Picture 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286F0835-10BA-B8BD-553E-81E68D0C0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84843" y="1920344"/>
              <a:ext cx="506318" cy="506318"/>
            </a:xfrm>
            <a:prstGeom prst="rect">
              <a:avLst/>
            </a:prstGeom>
          </p:spPr>
        </p:pic>
        <p:pic>
          <p:nvPicPr>
            <p:cNvPr id="3" name="Graphic 2" descr="Link with solid fill">
              <a:extLst>
                <a:ext uri="{FF2B5EF4-FFF2-40B4-BE49-F238E27FC236}">
                  <a16:creationId xmlns:a16="http://schemas.microsoft.com/office/drawing/2014/main" id="{172D6FD1-A359-5107-B1F0-57D79441B9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680002">
              <a:off x="6751343" y="2437940"/>
              <a:ext cx="381020" cy="3810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8ADEE57-A436-734D-B254-77064C305233}"/>
                </a:ext>
              </a:extLst>
            </p:cNvPr>
            <p:cNvSpPr txBox="1"/>
            <p:nvPr/>
          </p:nvSpPr>
          <p:spPr>
            <a:xfrm>
              <a:off x="6508389" y="2251647"/>
              <a:ext cx="3982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  <a:r>
                <a:rPr lang="en-US" sz="1200" i="1" baseline="-25000" dirty="0"/>
                <a:t>i+2</a:t>
              </a:r>
              <a:endParaRPr lang="en-US" i="1" dirty="0"/>
            </a:p>
          </p:txBody>
        </p:sp>
        <p:pic>
          <p:nvPicPr>
            <p:cNvPr id="5" name="Picture 4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BDF8A61D-487C-E956-0BEE-9FA8A561C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92158" y="2816534"/>
              <a:ext cx="506318" cy="506318"/>
            </a:xfrm>
            <a:prstGeom prst="rect">
              <a:avLst/>
            </a:prstGeom>
          </p:spPr>
        </p:pic>
        <p:pic>
          <p:nvPicPr>
            <p:cNvPr id="6" name="Graphic 5" descr="Link with solid fill">
              <a:extLst>
                <a:ext uri="{FF2B5EF4-FFF2-40B4-BE49-F238E27FC236}">
                  <a16:creationId xmlns:a16="http://schemas.microsoft.com/office/drawing/2014/main" id="{AACBA3B4-34F7-DC75-C017-D9B15DC86E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680002">
              <a:off x="6758658" y="3334130"/>
              <a:ext cx="381020" cy="3810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75AECD-9D11-3696-3DA9-9C41AA466C3D}"/>
                </a:ext>
              </a:extLst>
            </p:cNvPr>
            <p:cNvSpPr txBox="1"/>
            <p:nvPr/>
          </p:nvSpPr>
          <p:spPr>
            <a:xfrm>
              <a:off x="6515704" y="3147837"/>
              <a:ext cx="3982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  <a:r>
                <a:rPr lang="en-US" sz="1200" i="1" baseline="-25000" dirty="0"/>
                <a:t>i+3</a:t>
              </a:r>
              <a:endParaRPr lang="en-US" i="1" dirty="0"/>
            </a:p>
          </p:txBody>
        </p:sp>
        <p:pic>
          <p:nvPicPr>
            <p:cNvPr id="10" name="Picture 9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F2B7ED9A-A214-8CB0-64E0-822BF11E6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96337" y="3712724"/>
              <a:ext cx="506318" cy="506318"/>
            </a:xfrm>
            <a:prstGeom prst="rect">
              <a:avLst/>
            </a:prstGeom>
          </p:spPr>
        </p:pic>
        <p:pic>
          <p:nvPicPr>
            <p:cNvPr id="11" name="Graphic 10" descr="Link with solid fill">
              <a:extLst>
                <a:ext uri="{FF2B5EF4-FFF2-40B4-BE49-F238E27FC236}">
                  <a16:creationId xmlns:a16="http://schemas.microsoft.com/office/drawing/2014/main" id="{0F631633-F161-1B30-D183-F38FE6686E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680002">
              <a:off x="6762837" y="4230320"/>
              <a:ext cx="381020" cy="38102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BF3A4C-0EAB-0617-6B32-2479ADC87494}"/>
                </a:ext>
              </a:extLst>
            </p:cNvPr>
            <p:cNvSpPr txBox="1"/>
            <p:nvPr/>
          </p:nvSpPr>
          <p:spPr>
            <a:xfrm>
              <a:off x="6519883" y="4044027"/>
              <a:ext cx="3982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  <a:r>
                <a:rPr lang="en-US" sz="1200" i="1" baseline="-25000" dirty="0"/>
                <a:t>i+4</a:t>
              </a:r>
              <a:endParaRPr lang="en-US" i="1" dirty="0"/>
            </a:p>
          </p:txBody>
        </p:sp>
        <p:pic>
          <p:nvPicPr>
            <p:cNvPr id="18" name="Picture 17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5124CCDD-53CA-443B-58BA-7501EAEF7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84842" y="4629111"/>
              <a:ext cx="506318" cy="506318"/>
            </a:xfrm>
            <a:prstGeom prst="rect">
              <a:avLst/>
            </a:prstGeom>
          </p:spPr>
        </p:pic>
        <p:pic>
          <p:nvPicPr>
            <p:cNvPr id="22" name="Graphic 21" descr="Link with solid fill">
              <a:extLst>
                <a:ext uri="{FF2B5EF4-FFF2-40B4-BE49-F238E27FC236}">
                  <a16:creationId xmlns:a16="http://schemas.microsoft.com/office/drawing/2014/main" id="{425CC157-645D-B96C-ED0B-D8CD53A5B9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680002">
              <a:off x="6758657" y="5141366"/>
              <a:ext cx="381020" cy="38102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62A3EA5-D5D6-00CE-E79C-DD3F0E916EE0}"/>
                </a:ext>
              </a:extLst>
            </p:cNvPr>
            <p:cNvSpPr txBox="1"/>
            <p:nvPr/>
          </p:nvSpPr>
          <p:spPr>
            <a:xfrm>
              <a:off x="6515703" y="4955073"/>
              <a:ext cx="3982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  <a:r>
                <a:rPr lang="en-US" sz="1200" i="1" baseline="-25000" dirty="0"/>
                <a:t>i+5</a:t>
              </a:r>
              <a:endParaRPr lang="en-US" i="1" dirty="0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E4FC1A67-AF31-8D9A-BFB3-0F02494FCE80}"/>
              </a:ext>
            </a:extLst>
          </p:cNvPr>
          <p:cNvSpPr/>
          <p:nvPr/>
        </p:nvSpPr>
        <p:spPr>
          <a:xfrm>
            <a:off x="8069463" y="2127204"/>
            <a:ext cx="1401605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3. Retrieve Nonce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06FE602-07C6-8F45-0EE0-23EE4223AE71}"/>
              </a:ext>
            </a:extLst>
          </p:cNvPr>
          <p:cNvSpPr txBox="1"/>
          <p:nvPr/>
        </p:nvSpPr>
        <p:spPr>
          <a:xfrm>
            <a:off x="94946" y="4819357"/>
            <a:ext cx="2009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Winner Selection &amp; Reputation Update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5B2349B-7BB4-3AAA-CA6F-BC0917ADF5DF}"/>
              </a:ext>
            </a:extLst>
          </p:cNvPr>
          <p:cNvGrpSpPr/>
          <p:nvPr/>
        </p:nvGrpSpPr>
        <p:grpSpPr>
          <a:xfrm>
            <a:off x="3498393" y="279891"/>
            <a:ext cx="1759487" cy="851781"/>
            <a:chOff x="3498964" y="237051"/>
            <a:chExt cx="1759487" cy="851781"/>
          </a:xfrm>
        </p:grpSpPr>
        <p:pic>
          <p:nvPicPr>
            <p:cNvPr id="27" name="Picture 26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DF4D489D-61D1-DCD2-7FF6-81F59CEDD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50776" y="237051"/>
              <a:ext cx="729883" cy="679334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2BC923-C319-1F05-DDD8-FF4E8763BBF7}"/>
                </a:ext>
              </a:extLst>
            </p:cNvPr>
            <p:cNvSpPr txBox="1"/>
            <p:nvPr/>
          </p:nvSpPr>
          <p:spPr>
            <a:xfrm>
              <a:off x="3498964" y="750278"/>
              <a:ext cx="17594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/>
                <a:t>Providers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6E98716-3CE2-5F96-DCE5-AB65B699692C}"/>
              </a:ext>
            </a:extLst>
          </p:cNvPr>
          <p:cNvSpPr txBox="1"/>
          <p:nvPr/>
        </p:nvSpPr>
        <p:spPr>
          <a:xfrm>
            <a:off x="1258371" y="495943"/>
            <a:ext cx="1186543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Task </a:t>
            </a:r>
          </a:p>
          <a:p>
            <a:pPr algn="ctr"/>
            <a:r>
              <a:rPr lang="en-US" sz="1600" b="1" dirty="0">
                <a:latin typeface="Helvetica" pitchFamily="2" charset="0"/>
              </a:rPr>
              <a:t>Requester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CBEF364-BC9D-D657-848A-C0C9CB35CF7E}"/>
              </a:ext>
            </a:extLst>
          </p:cNvPr>
          <p:cNvCxnSpPr>
            <a:cxnSpLocks/>
          </p:cNvCxnSpPr>
          <p:nvPr/>
        </p:nvCxnSpPr>
        <p:spPr>
          <a:xfrm>
            <a:off x="210694" y="3549244"/>
            <a:ext cx="10195254" cy="0"/>
          </a:xfrm>
          <a:prstGeom prst="straightConnector1">
            <a:avLst/>
          </a:prstGeom>
          <a:ln w="34925" cmpd="tri">
            <a:solidFill>
              <a:schemeClr val="tx1">
                <a:alpha val="98000"/>
              </a:schemeClr>
            </a:solidFill>
            <a:prstDash val="sysDot"/>
            <a:headEnd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79105315-1314-725B-2C77-A352F313E7D0}"/>
              </a:ext>
            </a:extLst>
          </p:cNvPr>
          <p:cNvSpPr txBox="1"/>
          <p:nvPr/>
        </p:nvSpPr>
        <p:spPr>
          <a:xfrm>
            <a:off x="164320" y="2961345"/>
            <a:ext cx="21442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Attestation &amp;              Bid Submission 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D257E6D-3824-4022-0859-521EE636F0B2}"/>
              </a:ext>
            </a:extLst>
          </p:cNvPr>
          <p:cNvSpPr/>
          <p:nvPr/>
        </p:nvSpPr>
        <p:spPr>
          <a:xfrm>
            <a:off x="6244616" y="2494213"/>
            <a:ext cx="1401605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4. Initialize Enclave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37078105-CAA0-8C89-BA72-7C3DBA7A8E51}"/>
              </a:ext>
            </a:extLst>
          </p:cNvPr>
          <p:cNvCxnSpPr>
            <a:cxnSpLocks/>
          </p:cNvCxnSpPr>
          <p:nvPr/>
        </p:nvCxnSpPr>
        <p:spPr>
          <a:xfrm flipH="1" flipV="1">
            <a:off x="4404325" y="3020350"/>
            <a:ext cx="2538807" cy="8148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1FA7700-E08A-857D-09A2-3CB8FD90958B}"/>
              </a:ext>
            </a:extLst>
          </p:cNvPr>
          <p:cNvCxnSpPr>
            <a:cxnSpLocks/>
          </p:cNvCxnSpPr>
          <p:nvPr/>
        </p:nvCxnSpPr>
        <p:spPr>
          <a:xfrm>
            <a:off x="4399981" y="3453411"/>
            <a:ext cx="6005967" cy="0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F67DA1FC-DDC1-B132-D414-1D2B72D78226}"/>
              </a:ext>
            </a:extLst>
          </p:cNvPr>
          <p:cNvCxnSpPr>
            <a:cxnSpLocks/>
          </p:cNvCxnSpPr>
          <p:nvPr/>
        </p:nvCxnSpPr>
        <p:spPr>
          <a:xfrm>
            <a:off x="6976800" y="4032622"/>
            <a:ext cx="3429148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2906385-230E-9F27-EFC1-A8E5324FC901}"/>
              </a:ext>
            </a:extLst>
          </p:cNvPr>
          <p:cNvSpPr/>
          <p:nvPr/>
        </p:nvSpPr>
        <p:spPr>
          <a:xfrm>
            <a:off x="3748686" y="4844528"/>
            <a:ext cx="1534148" cy="4308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10. Execute Task; Update Reputation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81C05B67-218F-4DD9-5C03-18A5902E556B}"/>
              </a:ext>
            </a:extLst>
          </p:cNvPr>
          <p:cNvCxnSpPr>
            <a:cxnSpLocks/>
          </p:cNvCxnSpPr>
          <p:nvPr/>
        </p:nvCxnSpPr>
        <p:spPr>
          <a:xfrm>
            <a:off x="4415717" y="5321401"/>
            <a:ext cx="5997546" cy="17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D302EF0-D5B1-EAA2-A81E-175F7BDD34B2}"/>
              </a:ext>
            </a:extLst>
          </p:cNvPr>
          <p:cNvSpPr/>
          <p:nvPr/>
        </p:nvSpPr>
        <p:spPr>
          <a:xfrm>
            <a:off x="7994613" y="4534939"/>
            <a:ext cx="1646098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9. Set Winner On-chain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86CF8849-10D6-7D23-63C5-E3B858C27755}"/>
              </a:ext>
            </a:extLst>
          </p:cNvPr>
          <p:cNvCxnSpPr>
            <a:cxnSpLocks/>
          </p:cNvCxnSpPr>
          <p:nvPr/>
        </p:nvCxnSpPr>
        <p:spPr>
          <a:xfrm>
            <a:off x="6950717" y="4825794"/>
            <a:ext cx="3487087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4395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D08FA6-2A2F-8A94-A567-D9DBE6983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169E01A-5853-E664-293F-B827B656E70A}"/>
              </a:ext>
            </a:extLst>
          </p:cNvPr>
          <p:cNvCxnSpPr>
            <a:cxnSpLocks/>
          </p:cNvCxnSpPr>
          <p:nvPr/>
        </p:nvCxnSpPr>
        <p:spPr>
          <a:xfrm>
            <a:off x="282498" y="4140712"/>
            <a:ext cx="7307765" cy="0"/>
          </a:xfrm>
          <a:prstGeom prst="straightConnector1">
            <a:avLst/>
          </a:prstGeom>
          <a:ln w="34925" cmpd="tri">
            <a:solidFill>
              <a:schemeClr val="tx1">
                <a:alpha val="98000"/>
              </a:schemeClr>
            </a:solidFill>
            <a:prstDash val="sysDot"/>
            <a:headEnd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90308FB-4FC4-324E-A368-FDCE7ED856B0}"/>
              </a:ext>
            </a:extLst>
          </p:cNvPr>
          <p:cNvCxnSpPr>
            <a:cxnSpLocks/>
          </p:cNvCxnSpPr>
          <p:nvPr/>
        </p:nvCxnSpPr>
        <p:spPr>
          <a:xfrm>
            <a:off x="227290" y="5377867"/>
            <a:ext cx="7362973" cy="0"/>
          </a:xfrm>
          <a:prstGeom prst="straightConnector1">
            <a:avLst/>
          </a:prstGeom>
          <a:ln w="34925" cmpd="tri">
            <a:solidFill>
              <a:schemeClr val="tx1">
                <a:alpha val="98000"/>
              </a:schemeClr>
            </a:solidFill>
            <a:prstDash val="sysDot"/>
            <a:headEnd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0D2414F-EC01-8380-DF03-16C4CA804388}"/>
              </a:ext>
            </a:extLst>
          </p:cNvPr>
          <p:cNvCxnSpPr>
            <a:cxnSpLocks/>
          </p:cNvCxnSpPr>
          <p:nvPr/>
        </p:nvCxnSpPr>
        <p:spPr>
          <a:xfrm flipV="1">
            <a:off x="282498" y="2055408"/>
            <a:ext cx="7307765" cy="9316"/>
          </a:xfrm>
          <a:prstGeom prst="straightConnector1">
            <a:avLst/>
          </a:prstGeom>
          <a:ln w="34925" cmpd="tri">
            <a:solidFill>
              <a:schemeClr val="tx1">
                <a:alpha val="98000"/>
              </a:schemeClr>
            </a:solidFill>
            <a:prstDash val="sysDot"/>
            <a:headEnd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3F7349-7D8E-1285-901F-93112A006F49}"/>
              </a:ext>
            </a:extLst>
          </p:cNvPr>
          <p:cNvSpPr txBox="1"/>
          <p:nvPr/>
        </p:nvSpPr>
        <p:spPr>
          <a:xfrm>
            <a:off x="2687612" y="474552"/>
            <a:ext cx="869148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Helvetica" pitchFamily="2" charset="0"/>
              </a:rPr>
              <a:t>dApp</a:t>
            </a:r>
            <a:r>
              <a:rPr lang="en-US" sz="1600" dirty="0">
                <a:latin typeface="Helvetica" pitchFamily="2" charset="0"/>
              </a:rPr>
              <a:t> </a:t>
            </a:r>
          </a:p>
          <a:p>
            <a:pPr algn="ctr"/>
            <a:r>
              <a:rPr lang="en-US" sz="1600" dirty="0">
                <a:latin typeface="Helvetica" pitchFamily="2" charset="0"/>
              </a:rPr>
              <a:t>Creator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68512C-1E05-2404-6A62-07F7A2D911CB}"/>
              </a:ext>
            </a:extLst>
          </p:cNvPr>
          <p:cNvCxnSpPr>
            <a:cxnSpLocks/>
          </p:cNvCxnSpPr>
          <p:nvPr/>
        </p:nvCxnSpPr>
        <p:spPr>
          <a:xfrm flipH="1">
            <a:off x="4786891" y="1042014"/>
            <a:ext cx="2303" cy="4592876"/>
          </a:xfrm>
          <a:prstGeom prst="straightConnector1">
            <a:avLst/>
          </a:prstGeom>
          <a:ln w="3492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12DBAC-218F-C8F7-71A3-101AE48C7F39}"/>
              </a:ext>
            </a:extLst>
          </p:cNvPr>
          <p:cNvCxnSpPr>
            <a:cxnSpLocks/>
          </p:cNvCxnSpPr>
          <p:nvPr/>
        </p:nvCxnSpPr>
        <p:spPr>
          <a:xfrm>
            <a:off x="3101426" y="1017500"/>
            <a:ext cx="0" cy="4617390"/>
          </a:xfrm>
          <a:prstGeom prst="straightConnector1">
            <a:avLst/>
          </a:prstGeom>
          <a:ln w="3492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5BFE3B-FA20-BD7C-D0E0-1B7ABE8C95B6}"/>
              </a:ext>
            </a:extLst>
          </p:cNvPr>
          <p:cNvCxnSpPr>
            <a:cxnSpLocks/>
          </p:cNvCxnSpPr>
          <p:nvPr/>
        </p:nvCxnSpPr>
        <p:spPr>
          <a:xfrm>
            <a:off x="1631261" y="1065727"/>
            <a:ext cx="0" cy="4592876"/>
          </a:xfrm>
          <a:prstGeom prst="straightConnector1">
            <a:avLst/>
          </a:prstGeom>
          <a:ln w="3492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C70366-015C-4E5C-AEC9-C4C526E36389}"/>
              </a:ext>
            </a:extLst>
          </p:cNvPr>
          <p:cNvCxnSpPr>
            <a:cxnSpLocks/>
          </p:cNvCxnSpPr>
          <p:nvPr/>
        </p:nvCxnSpPr>
        <p:spPr>
          <a:xfrm>
            <a:off x="3122186" y="1429779"/>
            <a:ext cx="3329411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ABD9F03-D043-2F15-E381-0B8EFA889634}"/>
              </a:ext>
            </a:extLst>
          </p:cNvPr>
          <p:cNvCxnSpPr>
            <a:cxnSpLocks/>
          </p:cNvCxnSpPr>
          <p:nvPr/>
        </p:nvCxnSpPr>
        <p:spPr>
          <a:xfrm flipH="1">
            <a:off x="3101426" y="1869765"/>
            <a:ext cx="1687768" cy="0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12B210-332F-B70C-0C6C-4E9727D6C99E}"/>
              </a:ext>
            </a:extLst>
          </p:cNvPr>
          <p:cNvCxnSpPr>
            <a:cxnSpLocks/>
          </p:cNvCxnSpPr>
          <p:nvPr/>
        </p:nvCxnSpPr>
        <p:spPr>
          <a:xfrm>
            <a:off x="1624105" y="2625116"/>
            <a:ext cx="3138187" cy="5796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F95F979-F422-93A7-27DA-EDBD1E702777}"/>
              </a:ext>
            </a:extLst>
          </p:cNvPr>
          <p:cNvCxnSpPr>
            <a:cxnSpLocks/>
          </p:cNvCxnSpPr>
          <p:nvPr/>
        </p:nvCxnSpPr>
        <p:spPr>
          <a:xfrm flipH="1">
            <a:off x="1620212" y="3014510"/>
            <a:ext cx="3153884" cy="0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7C1F739-ECF7-6D69-27E5-BF3A0017EE66}"/>
              </a:ext>
            </a:extLst>
          </p:cNvPr>
          <p:cNvCxnSpPr>
            <a:cxnSpLocks/>
          </p:cNvCxnSpPr>
          <p:nvPr/>
        </p:nvCxnSpPr>
        <p:spPr>
          <a:xfrm>
            <a:off x="1614047" y="3799038"/>
            <a:ext cx="3148245" cy="10506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C82F3CD-0B3E-C1F2-1A26-E831A1B4BCF0}"/>
              </a:ext>
            </a:extLst>
          </p:cNvPr>
          <p:cNvCxnSpPr>
            <a:cxnSpLocks/>
          </p:cNvCxnSpPr>
          <p:nvPr/>
        </p:nvCxnSpPr>
        <p:spPr>
          <a:xfrm flipH="1">
            <a:off x="1609930" y="4454431"/>
            <a:ext cx="3170729" cy="0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E9F786BF-1DFD-DFF8-7C67-61E3A750CC4E}"/>
              </a:ext>
            </a:extLst>
          </p:cNvPr>
          <p:cNvSpPr/>
          <p:nvPr/>
        </p:nvSpPr>
        <p:spPr>
          <a:xfrm>
            <a:off x="2045076" y="1121442"/>
            <a:ext cx="1033936" cy="26161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1. Deploy SC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E51EA64-7047-5D04-D311-0FDB8D6AD094}"/>
              </a:ext>
            </a:extLst>
          </p:cNvPr>
          <p:cNvSpPr/>
          <p:nvPr/>
        </p:nvSpPr>
        <p:spPr>
          <a:xfrm>
            <a:off x="3426700" y="1734776"/>
            <a:ext cx="1073886" cy="26161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2. Register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EAF7EA-DE64-65C5-7663-BE326877B732}"/>
              </a:ext>
            </a:extLst>
          </p:cNvPr>
          <p:cNvSpPr/>
          <p:nvPr/>
        </p:nvSpPr>
        <p:spPr>
          <a:xfrm>
            <a:off x="3425378" y="2398342"/>
            <a:ext cx="1146213" cy="43088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4. Get VDF challenge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0E7AF0-77A9-79CF-B276-5BDC2B9E842E}"/>
              </a:ext>
            </a:extLst>
          </p:cNvPr>
          <p:cNvSpPr/>
          <p:nvPr/>
        </p:nvSpPr>
        <p:spPr>
          <a:xfrm>
            <a:off x="3427125" y="2891239"/>
            <a:ext cx="1142161" cy="26161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5. Send prime 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8405D77-5F6C-1038-9E12-9A4A536DBB8A}"/>
              </a:ext>
            </a:extLst>
          </p:cNvPr>
          <p:cNvSpPr/>
          <p:nvPr/>
        </p:nvSpPr>
        <p:spPr>
          <a:xfrm>
            <a:off x="1647938" y="3469924"/>
            <a:ext cx="1327800" cy="26161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6. Compute VDF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50B187F-4AFB-5E7F-5D8C-97087A318372}"/>
              </a:ext>
            </a:extLst>
          </p:cNvPr>
          <p:cNvSpPr/>
          <p:nvPr/>
        </p:nvSpPr>
        <p:spPr>
          <a:xfrm>
            <a:off x="3428899" y="3668912"/>
            <a:ext cx="1138084" cy="276999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i="1" dirty="0">
                <a:latin typeface="Helvetica" pitchFamily="2" charset="0"/>
              </a:rPr>
              <a:t>7. Send proof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94437C-9163-F363-82AD-4EED18BA76DA}"/>
              </a:ext>
            </a:extLst>
          </p:cNvPr>
          <p:cNvSpPr/>
          <p:nvPr/>
        </p:nvSpPr>
        <p:spPr>
          <a:xfrm>
            <a:off x="4848036" y="4353302"/>
            <a:ext cx="1138916" cy="26161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8. Verify &amp; sign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B5B4C34-23CC-9A41-4C1B-5E5486CC5B94}"/>
              </a:ext>
            </a:extLst>
          </p:cNvPr>
          <p:cNvCxnSpPr>
            <a:cxnSpLocks/>
          </p:cNvCxnSpPr>
          <p:nvPr/>
        </p:nvCxnSpPr>
        <p:spPr>
          <a:xfrm>
            <a:off x="1631261" y="4931349"/>
            <a:ext cx="4812950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D1118E71-6859-0031-AC45-08A67620BB0F}"/>
              </a:ext>
            </a:extLst>
          </p:cNvPr>
          <p:cNvSpPr/>
          <p:nvPr/>
        </p:nvSpPr>
        <p:spPr>
          <a:xfrm>
            <a:off x="1648476" y="4632182"/>
            <a:ext cx="1067989" cy="26161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9. Submit TX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B3C247A-6F00-6D38-791F-78336FE8EA15}"/>
              </a:ext>
            </a:extLst>
          </p:cNvPr>
          <p:cNvSpPr txBox="1"/>
          <p:nvPr/>
        </p:nvSpPr>
        <p:spPr>
          <a:xfrm>
            <a:off x="186076" y="1733608"/>
            <a:ext cx="126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Bootstrap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2F94A38-112B-F453-5BA9-D0EE1B5798AC}"/>
              </a:ext>
            </a:extLst>
          </p:cNvPr>
          <p:cNvGrpSpPr/>
          <p:nvPr/>
        </p:nvGrpSpPr>
        <p:grpSpPr>
          <a:xfrm>
            <a:off x="9602436" y="1343405"/>
            <a:ext cx="943972" cy="885170"/>
            <a:chOff x="4258978" y="1142514"/>
            <a:chExt cx="813816" cy="762801"/>
          </a:xfrm>
        </p:grpSpPr>
        <p:pic>
          <p:nvPicPr>
            <p:cNvPr id="55" name="Graphic 54" descr="User with solid fill">
              <a:extLst>
                <a:ext uri="{FF2B5EF4-FFF2-40B4-BE49-F238E27FC236}">
                  <a16:creationId xmlns:a16="http://schemas.microsoft.com/office/drawing/2014/main" id="{216D91DA-CB61-66F4-8D2A-6711AD851E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83091" y="1142514"/>
              <a:ext cx="565591" cy="541123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CF754F1-3EB4-A32D-3887-608BE7D84719}"/>
                </a:ext>
              </a:extLst>
            </p:cNvPr>
            <p:cNvSpPr txBox="1"/>
            <p:nvPr/>
          </p:nvSpPr>
          <p:spPr>
            <a:xfrm>
              <a:off x="4258978" y="1613564"/>
              <a:ext cx="813816" cy="291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Alice</a:t>
              </a:r>
            </a:p>
          </p:txBody>
        </p:sp>
      </p:grpSp>
      <p:pic>
        <p:nvPicPr>
          <p:cNvPr id="57" name="Picture 56" descr="Shape&#10;&#10;Description automatically generated with low confidence">
            <a:extLst>
              <a:ext uri="{FF2B5EF4-FFF2-40B4-BE49-F238E27FC236}">
                <a16:creationId xmlns:a16="http://schemas.microsoft.com/office/drawing/2014/main" id="{92B8D52E-1FA6-0B4E-2BC0-B8B9DD01F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640" y="270587"/>
            <a:ext cx="729883" cy="67933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AAC0FB1B-BB3B-B415-3E83-3F1852600D65}"/>
              </a:ext>
            </a:extLst>
          </p:cNvPr>
          <p:cNvSpPr txBox="1"/>
          <p:nvPr/>
        </p:nvSpPr>
        <p:spPr>
          <a:xfrm>
            <a:off x="4339693" y="782589"/>
            <a:ext cx="9439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Verifiers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EFF591E-BF42-4A42-5B6E-E47367F6A1F5}"/>
              </a:ext>
            </a:extLst>
          </p:cNvPr>
          <p:cNvSpPr txBox="1"/>
          <p:nvPr/>
        </p:nvSpPr>
        <p:spPr>
          <a:xfrm>
            <a:off x="8219310" y="7029182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2968362-172D-FC1A-4CB6-5E9D2B017A26}"/>
              </a:ext>
            </a:extLst>
          </p:cNvPr>
          <p:cNvSpPr txBox="1"/>
          <p:nvPr/>
        </p:nvSpPr>
        <p:spPr>
          <a:xfrm>
            <a:off x="8219310" y="7650329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0BC0866-AAEE-5D7B-A648-4B7378ADB095}"/>
              </a:ext>
            </a:extLst>
          </p:cNvPr>
          <p:cNvSpPr txBox="1"/>
          <p:nvPr/>
        </p:nvSpPr>
        <p:spPr>
          <a:xfrm>
            <a:off x="8212868" y="8274475"/>
            <a:ext cx="232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  <a:p>
            <a:pPr algn="ctr"/>
            <a:r>
              <a:rPr lang="en-US" sz="900" b="1" dirty="0"/>
              <a:t>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9BB68A-9148-F816-A78B-064C984F62F7}"/>
              </a:ext>
            </a:extLst>
          </p:cNvPr>
          <p:cNvGrpSpPr/>
          <p:nvPr/>
        </p:nvGrpSpPr>
        <p:grpSpPr>
          <a:xfrm>
            <a:off x="6272154" y="660258"/>
            <a:ext cx="1179057" cy="4965281"/>
            <a:chOff x="6352323" y="620945"/>
            <a:chExt cx="1179057" cy="4965281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BD50789-4E78-38A5-7B30-FDBC7973AEC4}"/>
                </a:ext>
              </a:extLst>
            </p:cNvPr>
            <p:cNvSpPr/>
            <p:nvPr/>
          </p:nvSpPr>
          <p:spPr>
            <a:xfrm>
              <a:off x="6570127" y="952167"/>
              <a:ext cx="681103" cy="4634059"/>
            </a:xfrm>
            <a:prstGeom prst="rect">
              <a:avLst/>
            </a:prstGeom>
            <a:ln>
              <a:solidFill>
                <a:schemeClr val="tx1"/>
              </a:solidFill>
              <a:prstDash val="sysDot"/>
            </a:ln>
            <a:effectLst>
              <a:softEdge rad="0"/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3" name="Picture 62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4C254B36-6164-D91F-61F0-552C159E8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84842" y="1038571"/>
              <a:ext cx="506318" cy="506318"/>
            </a:xfrm>
            <a:prstGeom prst="rect">
              <a:avLst/>
            </a:prstGeom>
          </p:spPr>
        </p:pic>
        <p:pic>
          <p:nvPicPr>
            <p:cNvPr id="64" name="Graphic 63" descr="Link with solid fill">
              <a:extLst>
                <a:ext uri="{FF2B5EF4-FFF2-40B4-BE49-F238E27FC236}">
                  <a16:creationId xmlns:a16="http://schemas.microsoft.com/office/drawing/2014/main" id="{9BBC12BE-29B4-6AFF-6C69-7FEF638E51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2680002">
              <a:off x="6751342" y="1556167"/>
              <a:ext cx="381020" cy="381020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99B1A44-4C66-0CDB-D0D2-F776A1783CB9}"/>
                </a:ext>
              </a:extLst>
            </p:cNvPr>
            <p:cNvSpPr txBox="1"/>
            <p:nvPr/>
          </p:nvSpPr>
          <p:spPr>
            <a:xfrm>
              <a:off x="6352323" y="620945"/>
              <a:ext cx="1179057" cy="307777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Blockchain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E3BD582-E792-F5B8-2FB3-EBDD2405226B}"/>
                </a:ext>
              </a:extLst>
            </p:cNvPr>
            <p:cNvSpPr txBox="1"/>
            <p:nvPr/>
          </p:nvSpPr>
          <p:spPr>
            <a:xfrm>
              <a:off x="6508388" y="1369874"/>
              <a:ext cx="3982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  <a:r>
                <a:rPr lang="en-US" sz="1200" i="1" baseline="-25000" dirty="0"/>
                <a:t>i+1</a:t>
              </a:r>
              <a:endParaRPr lang="en-US" i="1" dirty="0"/>
            </a:p>
          </p:txBody>
        </p:sp>
        <p:pic>
          <p:nvPicPr>
            <p:cNvPr id="2" name="Picture 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09176CE4-A23D-AED5-AC86-402CA73C3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84843" y="1920344"/>
              <a:ext cx="506318" cy="506318"/>
            </a:xfrm>
            <a:prstGeom prst="rect">
              <a:avLst/>
            </a:prstGeom>
          </p:spPr>
        </p:pic>
        <p:pic>
          <p:nvPicPr>
            <p:cNvPr id="3" name="Graphic 2" descr="Link with solid fill">
              <a:extLst>
                <a:ext uri="{FF2B5EF4-FFF2-40B4-BE49-F238E27FC236}">
                  <a16:creationId xmlns:a16="http://schemas.microsoft.com/office/drawing/2014/main" id="{BC43C6FC-44B3-169D-D0B6-867142E00C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2680002">
              <a:off x="6751343" y="2437940"/>
              <a:ext cx="381020" cy="3810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F3F24E3-A047-ECC8-FB02-C5B02F546B5E}"/>
                </a:ext>
              </a:extLst>
            </p:cNvPr>
            <p:cNvSpPr txBox="1"/>
            <p:nvPr/>
          </p:nvSpPr>
          <p:spPr>
            <a:xfrm>
              <a:off x="6508389" y="2251647"/>
              <a:ext cx="3982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  <a:r>
                <a:rPr lang="en-US" sz="1200" i="1" baseline="-25000" dirty="0"/>
                <a:t>i+2</a:t>
              </a:r>
              <a:endParaRPr lang="en-US" i="1" dirty="0"/>
            </a:p>
          </p:txBody>
        </p:sp>
        <p:pic>
          <p:nvPicPr>
            <p:cNvPr id="5" name="Picture 4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386FF64-ACC0-F1E6-AFC5-0C4EF1EFF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92158" y="2816534"/>
              <a:ext cx="506318" cy="506318"/>
            </a:xfrm>
            <a:prstGeom prst="rect">
              <a:avLst/>
            </a:prstGeom>
          </p:spPr>
        </p:pic>
        <p:pic>
          <p:nvPicPr>
            <p:cNvPr id="6" name="Graphic 5" descr="Link with solid fill">
              <a:extLst>
                <a:ext uri="{FF2B5EF4-FFF2-40B4-BE49-F238E27FC236}">
                  <a16:creationId xmlns:a16="http://schemas.microsoft.com/office/drawing/2014/main" id="{070E4062-DC1E-93B7-66A0-55113C14DA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2680002">
              <a:off x="6758658" y="3334130"/>
              <a:ext cx="381020" cy="3810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1C45D0-5C7A-8F82-1EE0-AF0FC86FC985}"/>
                </a:ext>
              </a:extLst>
            </p:cNvPr>
            <p:cNvSpPr txBox="1"/>
            <p:nvPr/>
          </p:nvSpPr>
          <p:spPr>
            <a:xfrm>
              <a:off x="6515704" y="3147837"/>
              <a:ext cx="3982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  <a:r>
                <a:rPr lang="en-US" sz="1200" i="1" baseline="-25000" dirty="0"/>
                <a:t>i+3</a:t>
              </a:r>
              <a:endParaRPr lang="en-US" i="1" dirty="0"/>
            </a:p>
          </p:txBody>
        </p:sp>
        <p:pic>
          <p:nvPicPr>
            <p:cNvPr id="10" name="Picture 9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CC1DAD3-6F84-20C9-5035-BC853EC5D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96337" y="3712724"/>
              <a:ext cx="506318" cy="506318"/>
            </a:xfrm>
            <a:prstGeom prst="rect">
              <a:avLst/>
            </a:prstGeom>
          </p:spPr>
        </p:pic>
        <p:pic>
          <p:nvPicPr>
            <p:cNvPr id="11" name="Graphic 10" descr="Link with solid fill">
              <a:extLst>
                <a:ext uri="{FF2B5EF4-FFF2-40B4-BE49-F238E27FC236}">
                  <a16:creationId xmlns:a16="http://schemas.microsoft.com/office/drawing/2014/main" id="{B01C5764-1854-E209-8937-D3B26279E8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2680002">
              <a:off x="6762837" y="4230320"/>
              <a:ext cx="381020" cy="38102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04F9770-3945-473A-F6A5-3BD855CA81FC}"/>
                </a:ext>
              </a:extLst>
            </p:cNvPr>
            <p:cNvSpPr txBox="1"/>
            <p:nvPr/>
          </p:nvSpPr>
          <p:spPr>
            <a:xfrm>
              <a:off x="6519883" y="4044027"/>
              <a:ext cx="3982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  <a:r>
                <a:rPr lang="en-US" sz="1200" i="1" baseline="-25000" dirty="0"/>
                <a:t>i+4</a:t>
              </a:r>
              <a:endParaRPr lang="en-US" i="1" dirty="0"/>
            </a:p>
          </p:txBody>
        </p:sp>
        <p:pic>
          <p:nvPicPr>
            <p:cNvPr id="18" name="Picture 17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3FED6E17-5136-B372-9293-5F84AC221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84842" y="4629111"/>
              <a:ext cx="506318" cy="506318"/>
            </a:xfrm>
            <a:prstGeom prst="rect">
              <a:avLst/>
            </a:prstGeom>
          </p:spPr>
        </p:pic>
        <p:pic>
          <p:nvPicPr>
            <p:cNvPr id="22" name="Graphic 21" descr="Link with solid fill">
              <a:extLst>
                <a:ext uri="{FF2B5EF4-FFF2-40B4-BE49-F238E27FC236}">
                  <a16:creationId xmlns:a16="http://schemas.microsoft.com/office/drawing/2014/main" id="{B208AB93-A852-851D-43CE-D90773F677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2680002">
              <a:off x="6758657" y="5141366"/>
              <a:ext cx="381020" cy="38102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FA84EA7-D19E-F56B-BDE5-CE459529E842}"/>
                </a:ext>
              </a:extLst>
            </p:cNvPr>
            <p:cNvSpPr txBox="1"/>
            <p:nvPr/>
          </p:nvSpPr>
          <p:spPr>
            <a:xfrm>
              <a:off x="6515703" y="4955073"/>
              <a:ext cx="3982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  <a:r>
                <a:rPr lang="en-US" sz="1200" i="1" baseline="-25000" dirty="0"/>
                <a:t>i+5</a:t>
              </a:r>
              <a:endParaRPr lang="en-US" i="1" dirty="0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CC47400B-1BF5-B84D-040F-481CE34B4F3B}"/>
              </a:ext>
            </a:extLst>
          </p:cNvPr>
          <p:cNvSpPr/>
          <p:nvPr/>
        </p:nvSpPr>
        <p:spPr>
          <a:xfrm>
            <a:off x="1641595" y="2152121"/>
            <a:ext cx="1208455" cy="26161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3. Set TX details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5F0049C-8192-6E27-3806-13C4E16A088F}"/>
              </a:ext>
            </a:extLst>
          </p:cNvPr>
          <p:cNvSpPr txBox="1"/>
          <p:nvPr/>
        </p:nvSpPr>
        <p:spPr>
          <a:xfrm>
            <a:off x="139314" y="5070996"/>
            <a:ext cx="17429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Verify &amp; Execute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1CA7350-1FA1-5B86-4BE3-41779395F01B}"/>
              </a:ext>
            </a:extLst>
          </p:cNvPr>
          <p:cNvSpPr txBox="1"/>
          <p:nvPr/>
        </p:nvSpPr>
        <p:spPr>
          <a:xfrm>
            <a:off x="192842" y="3830372"/>
            <a:ext cx="1635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VDF Compute</a:t>
            </a:r>
          </a:p>
        </p:txBody>
      </p:sp>
      <p:pic>
        <p:nvPicPr>
          <p:cNvPr id="16" name="Graphic 15" descr="User with solid fill">
            <a:extLst>
              <a:ext uri="{FF2B5EF4-FFF2-40B4-BE49-F238E27FC236}">
                <a16:creationId xmlns:a16="http://schemas.microsoft.com/office/drawing/2014/main" id="{5E991036-2F7D-7D03-C623-307666A477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0783" y="3526775"/>
            <a:ext cx="656048" cy="627930"/>
          </a:xfrm>
          <a:prstGeom prst="rect">
            <a:avLst/>
          </a:prstGeom>
        </p:spPr>
      </p:pic>
      <p:pic>
        <p:nvPicPr>
          <p:cNvPr id="17" name="Graphic 16" descr="Link with solid fill">
            <a:extLst>
              <a:ext uri="{FF2B5EF4-FFF2-40B4-BE49-F238E27FC236}">
                <a16:creationId xmlns:a16="http://schemas.microsoft.com/office/drawing/2014/main" id="{DB457232-3E5E-D3E6-9C7F-282EBD073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80002">
            <a:off x="6823574" y="2629653"/>
            <a:ext cx="381020" cy="3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3996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31029</TotalTime>
  <Words>573</Words>
  <Application>Microsoft Macintosh PowerPoint</Application>
  <PresentationFormat>Widescreen</PresentationFormat>
  <Paragraphs>246</Paragraphs>
  <Slides>11</Slides>
  <Notes>3</Notes>
  <HiddenSlides>10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Emrah Sariboz</dc:creator>
  <cp:lastModifiedBy>Emrah Sariboz</cp:lastModifiedBy>
  <cp:revision>118</cp:revision>
  <dcterms:created xsi:type="dcterms:W3CDTF">2022-10-19T03:22:34Z</dcterms:created>
  <dcterms:modified xsi:type="dcterms:W3CDTF">2026-08-08T20:13:32Z</dcterms:modified>
</cp:coreProperties>
</file>